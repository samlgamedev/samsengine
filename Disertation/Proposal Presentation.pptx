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3" r:id="rId6"/>
    <p:sldId id="273" r:id="rId7"/>
    <p:sldId id="272" r:id="rId8"/>
    <p:sldId id="270" r:id="rId9"/>
    <p:sldId id="260" r:id="rId10"/>
    <p:sldId id="261" r:id="rId11"/>
    <p:sldId id="262" r:id="rId12"/>
    <p:sldId id="264" r:id="rId13"/>
    <p:sldId id="265" r:id="rId14"/>
    <p:sldId id="266" r:id="rId15"/>
    <p:sldId id="267" r:id="rId16"/>
    <p:sldId id="268" r:id="rId17"/>
    <p:sldId id="269"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4660"/>
  </p:normalViewPr>
  <p:slideViewPr>
    <p:cSldViewPr snapToGrid="0">
      <p:cViewPr varScale="1">
        <p:scale>
          <a:sx n="104" d="100"/>
          <a:sy n="104" d="100"/>
        </p:scale>
        <p:origin x="3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2AB1CB-D3B1-4476-BA2F-6E11FCC56890}" type="datetimeFigureOut">
              <a:rPr lang="en-GB" smtClean="0"/>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F0EA92-8CE2-42A2-A753-B089ACC74005}" type="slidenum">
              <a:rPr lang="en-GB" smtClean="0"/>
              <a:t>‹#›</a:t>
            </a:fld>
            <a:endParaRPr lang="en-GB"/>
          </a:p>
        </p:txBody>
      </p:sp>
    </p:spTree>
    <p:extLst>
      <p:ext uri="{BB962C8B-B14F-4D97-AF65-F5344CB8AC3E}">
        <p14:creationId xmlns:p14="http://schemas.microsoft.com/office/powerpoint/2010/main" val="863804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2F0EA92-8CE2-42A2-A753-B089ACC74005}" type="slidenum">
              <a:rPr lang="en-GB" smtClean="0"/>
              <a:t>1</a:t>
            </a:fld>
            <a:endParaRPr lang="en-GB"/>
          </a:p>
        </p:txBody>
      </p:sp>
    </p:spTree>
    <p:extLst>
      <p:ext uri="{BB962C8B-B14F-4D97-AF65-F5344CB8AC3E}">
        <p14:creationId xmlns:p14="http://schemas.microsoft.com/office/powerpoint/2010/main" val="4195376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ADFD-3FB1-C92E-1887-175B7C94EA7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4840F585-84FC-AC8C-AEB4-977F9D389F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CACB27F-8168-603D-2E79-095147934D19}"/>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5" name="Footer Placeholder 4">
            <a:extLst>
              <a:ext uri="{FF2B5EF4-FFF2-40B4-BE49-F238E27FC236}">
                <a16:creationId xmlns:a16="http://schemas.microsoft.com/office/drawing/2014/main" id="{D0368A7E-B5AB-A863-ECB2-FC1F5094FB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B8FD90-5CBA-7B0B-C164-1811672C02EB}"/>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2046795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EAE9B-1636-949D-8940-721AFCEFBE5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B5B61AC-BFA1-1DB8-226B-0EA267D69F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FC93A91-C461-72A9-D40F-A6EC382C6BD9}"/>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5" name="Footer Placeholder 4">
            <a:extLst>
              <a:ext uri="{FF2B5EF4-FFF2-40B4-BE49-F238E27FC236}">
                <a16:creationId xmlns:a16="http://schemas.microsoft.com/office/drawing/2014/main" id="{D5AFD567-E9A2-0551-E188-955260EF1B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DF5132D-8717-FE75-9BB4-30F41200163D}"/>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1560329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53F5-302E-9140-8000-F8B23EBEEFA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48894FD-23EA-FF28-7028-099A0122D7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7B7F0F0-C838-D76D-B611-3015327B68A3}"/>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5" name="Footer Placeholder 4">
            <a:extLst>
              <a:ext uri="{FF2B5EF4-FFF2-40B4-BE49-F238E27FC236}">
                <a16:creationId xmlns:a16="http://schemas.microsoft.com/office/drawing/2014/main" id="{5FEAA5F7-CB05-17D5-BF87-71820159EC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BB6280-679B-099F-4503-25656C334F56}"/>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4040085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14B7C-C572-75B4-2038-FDD903FC1A6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83401A6-5AFA-1587-67D2-DCDADE129A8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6253BB20-F7DF-03A1-5B9A-2CF2A6D33E2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A54DBCF1-238D-14C1-FFAE-100CD96441FA}"/>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6" name="Footer Placeholder 5">
            <a:extLst>
              <a:ext uri="{FF2B5EF4-FFF2-40B4-BE49-F238E27FC236}">
                <a16:creationId xmlns:a16="http://schemas.microsoft.com/office/drawing/2014/main" id="{B7086B6F-9E8D-6803-9142-626A6D58CB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7F6397-EA7F-A92B-D4E0-264DFE7724BF}"/>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3147837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3EB6-A6DE-5B92-23CB-AF555C0992C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3166B25-629B-EE0D-E93C-9A4F80107E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256557E-96F5-1BE1-9330-67D2DA729EA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423855D2-6E17-F12B-9B82-60DC3AAB6F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4055E0E-AC34-9010-5A0B-6DE718A939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CBA9B31-933E-8A1E-2E5C-1B1CC55B63ED}"/>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8" name="Footer Placeholder 7">
            <a:extLst>
              <a:ext uri="{FF2B5EF4-FFF2-40B4-BE49-F238E27FC236}">
                <a16:creationId xmlns:a16="http://schemas.microsoft.com/office/drawing/2014/main" id="{FB35BC27-0960-7209-51E0-F6B3678AB6A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BBD8BD0-88DA-3A34-8E79-9C6730A142F7}"/>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3594787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6095-0B23-78CB-4D9F-943B1AD876E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66902A5-667E-2415-8914-688EB0C938AE}"/>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4" name="Footer Placeholder 3">
            <a:extLst>
              <a:ext uri="{FF2B5EF4-FFF2-40B4-BE49-F238E27FC236}">
                <a16:creationId xmlns:a16="http://schemas.microsoft.com/office/drawing/2014/main" id="{398278F1-64A0-5520-BAA1-A9503B84FE2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C711237-105F-8FE6-80ED-CF1E2724F0E2}"/>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1138723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3FE9EB-D943-C54B-1DA4-27F22BE37945}"/>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3" name="Footer Placeholder 2">
            <a:extLst>
              <a:ext uri="{FF2B5EF4-FFF2-40B4-BE49-F238E27FC236}">
                <a16:creationId xmlns:a16="http://schemas.microsoft.com/office/drawing/2014/main" id="{15311841-7AA8-DCB9-245A-30A68CF5A92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FEB0BEB-23AB-10C7-A020-ED61728A9A24}"/>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3738214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6389-1369-C26C-AD7A-E31241B2610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22029C4-BFEA-C2D0-B213-93DB81B6C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7A6F9A41-6819-8411-079E-0A108661FF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F31AB7-0974-8D46-C27C-4EE7D0EC4946}"/>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6" name="Footer Placeholder 5">
            <a:extLst>
              <a:ext uri="{FF2B5EF4-FFF2-40B4-BE49-F238E27FC236}">
                <a16:creationId xmlns:a16="http://schemas.microsoft.com/office/drawing/2014/main" id="{D423E629-036E-1A0A-4594-CBCCC6618E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79BF9FD-A341-AB07-BB10-2D9A41416931}"/>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2160207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FAB41-BC4E-ED08-CEC6-A30E3D1E8E1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A27E56B-B4B7-5214-6DF3-12D217DB34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191E742-7207-DE1C-4636-24B9C9C368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E196A3B-7568-BABA-0A08-1D1E3E5A304C}"/>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6" name="Footer Placeholder 5">
            <a:extLst>
              <a:ext uri="{FF2B5EF4-FFF2-40B4-BE49-F238E27FC236}">
                <a16:creationId xmlns:a16="http://schemas.microsoft.com/office/drawing/2014/main" id="{363A9A75-6EE8-3753-1348-466B7CADE4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54E241-40CD-A0A8-CD5E-6CEB700CE7F1}"/>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3350875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AC495-2EE7-7EEC-3441-E8572B0C7C1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7C31D5D4-93FD-BDEE-00B1-4379A603539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E327E0C-8EF4-73A3-5F9D-DE0435681FB8}"/>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5" name="Footer Placeholder 4">
            <a:extLst>
              <a:ext uri="{FF2B5EF4-FFF2-40B4-BE49-F238E27FC236}">
                <a16:creationId xmlns:a16="http://schemas.microsoft.com/office/drawing/2014/main" id="{178A73F9-FEAA-0772-9E33-4DBAFF664E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3FF6AF-DC50-BCC8-366F-0C098BDB5113}"/>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4003704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56D451-2CD7-AB1C-44FC-5D9AA2A69D39}"/>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4EC4B22-8344-BD74-BBF2-3F03D1F49FA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026ADC5-62AC-5E4A-8664-00AEA8DE4D55}"/>
              </a:ext>
            </a:extLst>
          </p:cNvPr>
          <p:cNvSpPr>
            <a:spLocks noGrp="1"/>
          </p:cNvSpPr>
          <p:nvPr>
            <p:ph type="dt" sz="half" idx="10"/>
          </p:nvPr>
        </p:nvSpPr>
        <p:spPr/>
        <p:txBody>
          <a:bodyPr/>
          <a:lstStyle/>
          <a:p>
            <a:fld id="{D6DC6B3C-862F-4922-BBAC-0DA0B9373CD7}" type="datetimeFigureOut">
              <a:rPr lang="en-GB" smtClean="0"/>
              <a:t>11/12/2025</a:t>
            </a:fld>
            <a:endParaRPr lang="en-GB"/>
          </a:p>
        </p:txBody>
      </p:sp>
      <p:sp>
        <p:nvSpPr>
          <p:cNvPr id="5" name="Footer Placeholder 4">
            <a:extLst>
              <a:ext uri="{FF2B5EF4-FFF2-40B4-BE49-F238E27FC236}">
                <a16:creationId xmlns:a16="http://schemas.microsoft.com/office/drawing/2014/main" id="{89AC2937-8582-8371-86F9-C5BD6C256C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AF6D9C-882F-058A-9BB0-AB8D74D3624C}"/>
              </a:ext>
            </a:extLst>
          </p:cNvPr>
          <p:cNvSpPr>
            <a:spLocks noGrp="1"/>
          </p:cNvSpPr>
          <p:nvPr>
            <p:ph type="sldNum" sz="quarter" idx="12"/>
          </p:nvPr>
        </p:nvSpPr>
        <p:spPr/>
        <p:txBody>
          <a:bodyPr/>
          <a:lstStyle/>
          <a:p>
            <a:fld id="{029F8418-9D04-4A4B-AE55-03BBA6C4509D}" type="slidenum">
              <a:rPr lang="en-GB" smtClean="0"/>
              <a:t>‹#›</a:t>
            </a:fld>
            <a:endParaRPr lang="en-GB"/>
          </a:p>
        </p:txBody>
      </p:sp>
    </p:spTree>
    <p:extLst>
      <p:ext uri="{BB962C8B-B14F-4D97-AF65-F5344CB8AC3E}">
        <p14:creationId xmlns:p14="http://schemas.microsoft.com/office/powerpoint/2010/main" val="2539169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81577-538A-1877-EB8A-0C87240B8F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97DCA51-9189-AF66-32AC-01B179DBA3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77D3935-7975-12E6-D12E-EB8AAF8B46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C6B3C-862F-4922-BBAC-0DA0B9373CD7}" type="datetimeFigureOut">
              <a:rPr lang="en-GB" smtClean="0"/>
              <a:t>11/12/2025</a:t>
            </a:fld>
            <a:endParaRPr lang="en-GB"/>
          </a:p>
        </p:txBody>
      </p:sp>
      <p:sp>
        <p:nvSpPr>
          <p:cNvPr id="5" name="Footer Placeholder 4">
            <a:extLst>
              <a:ext uri="{FF2B5EF4-FFF2-40B4-BE49-F238E27FC236}">
                <a16:creationId xmlns:a16="http://schemas.microsoft.com/office/drawing/2014/main" id="{36BCCDEE-FD5D-2857-F74A-E176A7D0C9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0F85DA2-21E7-9B04-8016-F7A4BC6D93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9F8418-9D04-4A4B-AE55-03BBA6C4509D}" type="slidenum">
              <a:rPr lang="en-GB" smtClean="0"/>
              <a:t>‹#›</a:t>
            </a:fld>
            <a:endParaRPr lang="en-GB"/>
          </a:p>
        </p:txBody>
      </p:sp>
    </p:spTree>
    <p:extLst>
      <p:ext uri="{BB962C8B-B14F-4D97-AF65-F5344CB8AC3E}">
        <p14:creationId xmlns:p14="http://schemas.microsoft.com/office/powerpoint/2010/main" val="353438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FF46B-E34C-103E-A692-C036CED564CF}"/>
              </a:ext>
            </a:extLst>
          </p:cNvPr>
          <p:cNvSpPr>
            <a:spLocks noGrp="1"/>
          </p:cNvSpPr>
          <p:nvPr>
            <p:ph type="ctrTitle"/>
          </p:nvPr>
        </p:nvSpPr>
        <p:spPr>
          <a:xfrm>
            <a:off x="1524000" y="0"/>
            <a:ext cx="9144000" cy="2387600"/>
          </a:xfrm>
        </p:spPr>
        <p:txBody>
          <a:bodyPr>
            <a:normAutofit fontScale="90000"/>
          </a:bodyPr>
          <a:lstStyle/>
          <a:p>
            <a:r>
              <a:rPr lang="en-GB" dirty="0"/>
              <a:t>A Comparison of Voronoi Fracturing in Vulkan and OpenGL</a:t>
            </a:r>
          </a:p>
        </p:txBody>
      </p:sp>
      <p:sp>
        <p:nvSpPr>
          <p:cNvPr id="3" name="Subtitle 2">
            <a:extLst>
              <a:ext uri="{FF2B5EF4-FFF2-40B4-BE49-F238E27FC236}">
                <a16:creationId xmlns:a16="http://schemas.microsoft.com/office/drawing/2014/main" id="{C8E91F84-1892-FA7B-35A8-301E383F6C01}"/>
              </a:ext>
            </a:extLst>
          </p:cNvPr>
          <p:cNvSpPr>
            <a:spLocks noGrp="1"/>
          </p:cNvSpPr>
          <p:nvPr>
            <p:ph type="subTitle" idx="1"/>
          </p:nvPr>
        </p:nvSpPr>
        <p:spPr>
          <a:xfrm>
            <a:off x="1594100" y="2814639"/>
            <a:ext cx="9144000" cy="1655762"/>
          </a:xfrm>
        </p:spPr>
        <p:txBody>
          <a:bodyPr/>
          <a:lstStyle/>
          <a:p>
            <a:r>
              <a:rPr lang="en-GB" dirty="0"/>
              <a:t>By Samuel Lloyd</a:t>
            </a:r>
          </a:p>
        </p:txBody>
      </p:sp>
    </p:spTree>
    <p:extLst>
      <p:ext uri="{BB962C8B-B14F-4D97-AF65-F5344CB8AC3E}">
        <p14:creationId xmlns:p14="http://schemas.microsoft.com/office/powerpoint/2010/main" val="1226781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BECC-995C-6C89-2BCE-F738A0468C3E}"/>
              </a:ext>
            </a:extLst>
          </p:cNvPr>
          <p:cNvSpPr>
            <a:spLocks noGrp="1"/>
          </p:cNvSpPr>
          <p:nvPr>
            <p:ph type="title"/>
          </p:nvPr>
        </p:nvSpPr>
        <p:spPr/>
        <p:txBody>
          <a:bodyPr/>
          <a:lstStyle/>
          <a:p>
            <a:r>
              <a:rPr lang="en-GB" dirty="0"/>
              <a:t>Context</a:t>
            </a:r>
          </a:p>
        </p:txBody>
      </p:sp>
      <p:sp>
        <p:nvSpPr>
          <p:cNvPr id="3" name="Content Placeholder 2">
            <a:extLst>
              <a:ext uri="{FF2B5EF4-FFF2-40B4-BE49-F238E27FC236}">
                <a16:creationId xmlns:a16="http://schemas.microsoft.com/office/drawing/2014/main" id="{8076DC35-2C0D-E1CF-8C48-711B2E1345FC}"/>
              </a:ext>
            </a:extLst>
          </p:cNvPr>
          <p:cNvSpPr>
            <a:spLocks noGrp="1"/>
          </p:cNvSpPr>
          <p:nvPr>
            <p:ph idx="1"/>
          </p:nvPr>
        </p:nvSpPr>
        <p:spPr>
          <a:xfrm>
            <a:off x="960748" y="1354285"/>
            <a:ext cx="10515600" cy="4351338"/>
          </a:xfrm>
        </p:spPr>
        <p:txBody>
          <a:bodyPr>
            <a:normAutofit/>
          </a:bodyPr>
          <a:lstStyle/>
          <a:p>
            <a:pPr marL="0" indent="0">
              <a:buNone/>
            </a:pPr>
            <a:r>
              <a:rPr lang="en-GB" dirty="0"/>
              <a:t>As destruction effects in games have grown in usage, complexity, and scale, the need for performance has grown in tandem</a:t>
            </a:r>
            <a:br>
              <a:rPr lang="en-GB" dirty="0"/>
            </a:br>
            <a:br>
              <a:rPr lang="en-GB" dirty="0"/>
            </a:br>
            <a:r>
              <a:rPr lang="en-GB" dirty="0"/>
              <a:t>A commonly used algorithm for destruction is Voronoi fracturing, where a mesh is sliced against a generated Voronoi diagram.</a:t>
            </a:r>
          </a:p>
          <a:p>
            <a:pPr marL="0" indent="0">
              <a:buNone/>
            </a:pPr>
            <a:endParaRPr lang="en-GB" dirty="0"/>
          </a:p>
          <a:p>
            <a:pPr marL="0" indent="0">
              <a:buNone/>
            </a:pPr>
            <a:r>
              <a:rPr lang="en-GB" dirty="0"/>
              <a:t>Voronoi is a well research algorithms, that has already been well optimised. However, there is a constant demand for performance in applications such as game engines where Voronoi is commonly implemented. </a:t>
            </a:r>
          </a:p>
        </p:txBody>
      </p:sp>
    </p:spTree>
    <p:extLst>
      <p:ext uri="{BB962C8B-B14F-4D97-AF65-F5344CB8AC3E}">
        <p14:creationId xmlns:p14="http://schemas.microsoft.com/office/powerpoint/2010/main" val="3586621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227D-F6F9-C6F1-3346-AE0AB93A6C4C}"/>
              </a:ext>
            </a:extLst>
          </p:cNvPr>
          <p:cNvSpPr>
            <a:spLocks noGrp="1"/>
          </p:cNvSpPr>
          <p:nvPr>
            <p:ph type="title"/>
          </p:nvPr>
        </p:nvSpPr>
        <p:spPr/>
        <p:txBody>
          <a:bodyPr/>
          <a:lstStyle/>
          <a:p>
            <a:r>
              <a:rPr lang="en-GB" dirty="0"/>
              <a:t>Context</a:t>
            </a:r>
          </a:p>
        </p:txBody>
      </p:sp>
      <p:sp>
        <p:nvSpPr>
          <p:cNvPr id="3" name="Content Placeholder 2">
            <a:extLst>
              <a:ext uri="{FF2B5EF4-FFF2-40B4-BE49-F238E27FC236}">
                <a16:creationId xmlns:a16="http://schemas.microsoft.com/office/drawing/2014/main" id="{6E607FA3-A5DD-4C2A-58C8-74DC7097FD8D}"/>
              </a:ext>
            </a:extLst>
          </p:cNvPr>
          <p:cNvSpPr>
            <a:spLocks noGrp="1"/>
          </p:cNvSpPr>
          <p:nvPr>
            <p:ph idx="1"/>
          </p:nvPr>
        </p:nvSpPr>
        <p:spPr/>
        <p:txBody>
          <a:bodyPr/>
          <a:lstStyle/>
          <a:p>
            <a:pPr marL="0" indent="0">
              <a:buNone/>
            </a:pPr>
            <a:r>
              <a:rPr lang="en-GB" dirty="0"/>
              <a:t> </a:t>
            </a:r>
          </a:p>
          <a:p>
            <a:pPr marL="0" indent="0">
              <a:buNone/>
            </a:pPr>
            <a:r>
              <a:rPr lang="en-GB" dirty="0"/>
              <a:t>There is a lack of research on the graphical API that best suites Voronoi, such as OpenGL or Vulkan.</a:t>
            </a:r>
          </a:p>
          <a:p>
            <a:pPr marL="0" indent="0">
              <a:buNone/>
            </a:pPr>
            <a:r>
              <a:rPr lang="en-GB" dirty="0"/>
              <a:t>Graphics APIs can differ in the performance they offer, due to differing levels of control, and what GPU architecture they were designed for.</a:t>
            </a:r>
          </a:p>
          <a:p>
            <a:pPr marL="0" indent="0">
              <a:buNone/>
            </a:pPr>
            <a:r>
              <a:rPr lang="en-GB" dirty="0"/>
              <a:t>As a result of this, choosing the right graphical API can offer significant performance gains. </a:t>
            </a:r>
          </a:p>
        </p:txBody>
      </p:sp>
    </p:spTree>
    <p:extLst>
      <p:ext uri="{BB962C8B-B14F-4D97-AF65-F5344CB8AC3E}">
        <p14:creationId xmlns:p14="http://schemas.microsoft.com/office/powerpoint/2010/main" val="4145237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B4250-1881-3203-9830-1C4E835DCC14}"/>
              </a:ext>
            </a:extLst>
          </p:cNvPr>
          <p:cNvSpPr>
            <a:spLocks noGrp="1"/>
          </p:cNvSpPr>
          <p:nvPr>
            <p:ph type="title"/>
          </p:nvPr>
        </p:nvSpPr>
        <p:spPr/>
        <p:txBody>
          <a:bodyPr/>
          <a:lstStyle/>
          <a:p>
            <a:r>
              <a:rPr lang="en-GB" dirty="0"/>
              <a:t>Justification</a:t>
            </a:r>
          </a:p>
        </p:txBody>
      </p:sp>
      <p:sp>
        <p:nvSpPr>
          <p:cNvPr id="3" name="Content Placeholder 2">
            <a:extLst>
              <a:ext uri="{FF2B5EF4-FFF2-40B4-BE49-F238E27FC236}">
                <a16:creationId xmlns:a16="http://schemas.microsoft.com/office/drawing/2014/main" id="{68240AEF-57DC-AC70-0EFD-EB7B99FB8B6F}"/>
              </a:ext>
            </a:extLst>
          </p:cNvPr>
          <p:cNvSpPr>
            <a:spLocks noGrp="1"/>
          </p:cNvSpPr>
          <p:nvPr>
            <p:ph idx="1"/>
          </p:nvPr>
        </p:nvSpPr>
        <p:spPr/>
        <p:txBody>
          <a:bodyPr/>
          <a:lstStyle/>
          <a:p>
            <a:pPr marL="0" indent="0">
              <a:buNone/>
            </a:pPr>
            <a:r>
              <a:rPr lang="en-GB" dirty="0"/>
              <a:t>Optimising Voronoi for the correct Graphical API will offer clearer insight into the correct API to use when building an application that involves Voronoi. </a:t>
            </a:r>
          </a:p>
          <a:p>
            <a:pPr marL="0" indent="0">
              <a:buNone/>
            </a:pPr>
            <a:r>
              <a:rPr lang="en-GB" dirty="0"/>
              <a:t>This could benefit those with lower end hardware, as it could potentially lower the hardware barrier of applications that utilise Voronoi if they are more performant, and benefit the education sector when teaching about which API has more modern relevance.</a:t>
            </a:r>
          </a:p>
        </p:txBody>
      </p:sp>
    </p:spTree>
    <p:extLst>
      <p:ext uri="{BB962C8B-B14F-4D97-AF65-F5344CB8AC3E}">
        <p14:creationId xmlns:p14="http://schemas.microsoft.com/office/powerpoint/2010/main" val="1267464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492B8-0C56-DED5-3C86-C8DA8D5F4D9B}"/>
              </a:ext>
            </a:extLst>
          </p:cNvPr>
          <p:cNvSpPr>
            <a:spLocks noGrp="1"/>
          </p:cNvSpPr>
          <p:nvPr>
            <p:ph type="title"/>
          </p:nvPr>
        </p:nvSpPr>
        <p:spPr/>
        <p:txBody>
          <a:bodyPr/>
          <a:lstStyle/>
          <a:p>
            <a:r>
              <a:rPr lang="en-GB" dirty="0"/>
              <a:t>Question and Hypothesis</a:t>
            </a:r>
          </a:p>
        </p:txBody>
      </p:sp>
      <p:sp>
        <p:nvSpPr>
          <p:cNvPr id="3" name="Content Placeholder 2">
            <a:extLst>
              <a:ext uri="{FF2B5EF4-FFF2-40B4-BE49-F238E27FC236}">
                <a16:creationId xmlns:a16="http://schemas.microsoft.com/office/drawing/2014/main" id="{80853076-6EFF-6E04-FF1A-E9A0DDD783FA}"/>
              </a:ext>
            </a:extLst>
          </p:cNvPr>
          <p:cNvSpPr>
            <a:spLocks noGrp="1"/>
          </p:cNvSpPr>
          <p:nvPr>
            <p:ph idx="1"/>
          </p:nvPr>
        </p:nvSpPr>
        <p:spPr/>
        <p:txBody>
          <a:bodyPr/>
          <a:lstStyle/>
          <a:p>
            <a:r>
              <a:rPr lang="en-GB" dirty="0"/>
              <a:t>From this, the research question can be concluded as:</a:t>
            </a:r>
          </a:p>
          <a:p>
            <a:pPr marL="0" indent="0">
              <a:buNone/>
            </a:pPr>
            <a:r>
              <a:rPr lang="en-GB" dirty="0"/>
              <a:t>  How does OpenGL compare to </a:t>
            </a:r>
            <a:r>
              <a:rPr lang="en-GB" dirty="0" err="1"/>
              <a:t>vulkan</a:t>
            </a:r>
            <a:r>
              <a:rPr lang="en-GB" dirty="0"/>
              <a:t> in performance for a 3D Voronoi fracturing of a complex mesh?</a:t>
            </a:r>
          </a:p>
          <a:p>
            <a:r>
              <a:rPr lang="en-GB" dirty="0"/>
              <a:t>And from this, we can derive the hypothesises</a:t>
            </a:r>
          </a:p>
        </p:txBody>
      </p:sp>
      <p:pic>
        <p:nvPicPr>
          <p:cNvPr id="5" name="Picture 4" descr="A white and black text&#10;&#10;AI-generated content may be incorrect.">
            <a:extLst>
              <a:ext uri="{FF2B5EF4-FFF2-40B4-BE49-F238E27FC236}">
                <a16:creationId xmlns:a16="http://schemas.microsoft.com/office/drawing/2014/main" id="{32F3CEB4-D2D5-6381-8B28-E818750C3B82}"/>
              </a:ext>
            </a:extLst>
          </p:cNvPr>
          <p:cNvPicPr>
            <a:picLocks noChangeAspect="1"/>
          </p:cNvPicPr>
          <p:nvPr/>
        </p:nvPicPr>
        <p:blipFill>
          <a:blip r:embed="rId2"/>
          <a:stretch>
            <a:fillRect/>
          </a:stretch>
        </p:blipFill>
        <p:spPr>
          <a:xfrm>
            <a:off x="2015340" y="4054297"/>
            <a:ext cx="6726324" cy="2507438"/>
          </a:xfrm>
          <a:prstGeom prst="rect">
            <a:avLst/>
          </a:prstGeom>
        </p:spPr>
      </p:pic>
    </p:spTree>
    <p:extLst>
      <p:ext uri="{BB962C8B-B14F-4D97-AF65-F5344CB8AC3E}">
        <p14:creationId xmlns:p14="http://schemas.microsoft.com/office/powerpoint/2010/main" val="828313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4F208-405E-A916-C68A-780DE7E8A9B3}"/>
              </a:ext>
            </a:extLst>
          </p:cNvPr>
          <p:cNvSpPr>
            <a:spLocks noGrp="1"/>
          </p:cNvSpPr>
          <p:nvPr>
            <p:ph type="title"/>
          </p:nvPr>
        </p:nvSpPr>
        <p:spPr/>
        <p:txBody>
          <a:bodyPr/>
          <a:lstStyle/>
          <a:p>
            <a:r>
              <a:rPr lang="en-GB" dirty="0"/>
              <a:t>Method</a:t>
            </a:r>
          </a:p>
        </p:txBody>
      </p:sp>
      <p:sp>
        <p:nvSpPr>
          <p:cNvPr id="3" name="Content Placeholder 2">
            <a:extLst>
              <a:ext uri="{FF2B5EF4-FFF2-40B4-BE49-F238E27FC236}">
                <a16:creationId xmlns:a16="http://schemas.microsoft.com/office/drawing/2014/main" id="{1D73BBBD-8649-55C7-6ED1-676902D7DF53}"/>
              </a:ext>
            </a:extLst>
          </p:cNvPr>
          <p:cNvSpPr>
            <a:spLocks noGrp="1"/>
          </p:cNvSpPr>
          <p:nvPr>
            <p:ph idx="1"/>
          </p:nvPr>
        </p:nvSpPr>
        <p:spPr/>
        <p:txBody>
          <a:bodyPr/>
          <a:lstStyle/>
          <a:p>
            <a:r>
              <a:rPr lang="en-GB" dirty="0"/>
              <a:t>An application for running a test of a Voronoi fracture on a 3D mesh will be created.</a:t>
            </a:r>
          </a:p>
          <a:p>
            <a:r>
              <a:rPr lang="en-GB" dirty="0"/>
              <a:t>This will utilise a bridge interface between the two API’s, so that the fracture code is the same on both API’s, reducing bias.</a:t>
            </a:r>
          </a:p>
          <a:p>
            <a:pPr marL="0" indent="0">
              <a:buNone/>
            </a:pPr>
            <a:endParaRPr lang="en-GB" dirty="0"/>
          </a:p>
        </p:txBody>
      </p:sp>
    </p:spTree>
    <p:extLst>
      <p:ext uri="{BB962C8B-B14F-4D97-AF65-F5344CB8AC3E}">
        <p14:creationId xmlns:p14="http://schemas.microsoft.com/office/powerpoint/2010/main" val="949133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FFF0-61A8-7F13-B4FD-D3832F4E0DC9}"/>
              </a:ext>
            </a:extLst>
          </p:cNvPr>
          <p:cNvSpPr>
            <a:spLocks noGrp="1"/>
          </p:cNvSpPr>
          <p:nvPr>
            <p:ph type="title"/>
          </p:nvPr>
        </p:nvSpPr>
        <p:spPr/>
        <p:txBody>
          <a:bodyPr/>
          <a:lstStyle/>
          <a:p>
            <a:r>
              <a:rPr lang="en-GB" dirty="0"/>
              <a:t>Method</a:t>
            </a:r>
          </a:p>
        </p:txBody>
      </p:sp>
      <p:sp>
        <p:nvSpPr>
          <p:cNvPr id="3" name="Content Placeholder 2">
            <a:extLst>
              <a:ext uri="{FF2B5EF4-FFF2-40B4-BE49-F238E27FC236}">
                <a16:creationId xmlns:a16="http://schemas.microsoft.com/office/drawing/2014/main" id="{0905788F-BF98-72B2-C8B7-6A002FFEFEB8}"/>
              </a:ext>
            </a:extLst>
          </p:cNvPr>
          <p:cNvSpPr>
            <a:spLocks noGrp="1"/>
          </p:cNvSpPr>
          <p:nvPr>
            <p:ph idx="1"/>
          </p:nvPr>
        </p:nvSpPr>
        <p:spPr/>
        <p:txBody>
          <a:bodyPr/>
          <a:lstStyle/>
          <a:p>
            <a:r>
              <a:rPr lang="en-GB" dirty="0"/>
              <a:t>To solve my research question, a test on a set of 10, 100, and 1000 points will be repeated 145 times, as G*Power calculated that as the needed sample size.</a:t>
            </a:r>
          </a:p>
          <a:p>
            <a:r>
              <a:rPr lang="en-GB" dirty="0"/>
              <a:t> The time will be recorded after each fracture. After all sets have been recorded, they will be used to create a box-plot for each set using python’s pandas. </a:t>
            </a:r>
          </a:p>
          <a:p>
            <a:r>
              <a:rPr lang="en-GB" dirty="0"/>
              <a:t>A  Wilcoxon-Mann Whitney test will be performed on the data, for each point set of 10, 100, and 1000</a:t>
            </a:r>
          </a:p>
          <a:p>
            <a:r>
              <a:rPr lang="en-GB" dirty="0"/>
              <a:t>This will give me clear results for how each API performs.</a:t>
            </a:r>
          </a:p>
        </p:txBody>
      </p:sp>
    </p:spTree>
    <p:extLst>
      <p:ext uri="{BB962C8B-B14F-4D97-AF65-F5344CB8AC3E}">
        <p14:creationId xmlns:p14="http://schemas.microsoft.com/office/powerpoint/2010/main" val="2524124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2EF3-2F80-1C26-6445-462264B9AC70}"/>
              </a:ext>
            </a:extLst>
          </p:cNvPr>
          <p:cNvSpPr>
            <a:spLocks noGrp="1"/>
          </p:cNvSpPr>
          <p:nvPr>
            <p:ph type="title"/>
          </p:nvPr>
        </p:nvSpPr>
        <p:spPr/>
        <p:txBody>
          <a:bodyPr/>
          <a:lstStyle/>
          <a:p>
            <a:r>
              <a:rPr lang="en-GB" dirty="0"/>
              <a:t>Challenges</a:t>
            </a:r>
          </a:p>
        </p:txBody>
      </p:sp>
      <p:sp>
        <p:nvSpPr>
          <p:cNvPr id="3" name="Content Placeholder 2">
            <a:extLst>
              <a:ext uri="{FF2B5EF4-FFF2-40B4-BE49-F238E27FC236}">
                <a16:creationId xmlns:a16="http://schemas.microsoft.com/office/drawing/2014/main" id="{C82F6DFF-6A53-18D3-A7B4-4D1BA415AC0B}"/>
              </a:ext>
            </a:extLst>
          </p:cNvPr>
          <p:cNvSpPr>
            <a:spLocks noGrp="1"/>
          </p:cNvSpPr>
          <p:nvPr>
            <p:ph idx="1"/>
          </p:nvPr>
        </p:nvSpPr>
        <p:spPr/>
        <p:txBody>
          <a:bodyPr/>
          <a:lstStyle/>
          <a:p>
            <a:r>
              <a:rPr lang="en-GB" dirty="0"/>
              <a:t>Implementing a bridge interface for both OpenGL and Vulkan is a complex task.</a:t>
            </a:r>
          </a:p>
          <a:p>
            <a:r>
              <a:rPr lang="en-GB" dirty="0"/>
              <a:t>Voronoi diagrams and clipping in 3D is a known complex problem with few resources online.</a:t>
            </a:r>
          </a:p>
        </p:txBody>
      </p:sp>
    </p:spTree>
    <p:extLst>
      <p:ext uri="{BB962C8B-B14F-4D97-AF65-F5344CB8AC3E}">
        <p14:creationId xmlns:p14="http://schemas.microsoft.com/office/powerpoint/2010/main" val="1266959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5935A-3C3B-EBDA-FD41-4D3B1CC86692}"/>
              </a:ext>
            </a:extLst>
          </p:cNvPr>
          <p:cNvSpPr>
            <a:spLocks noGrp="1"/>
          </p:cNvSpPr>
          <p:nvPr>
            <p:ph type="title"/>
          </p:nvPr>
        </p:nvSpPr>
        <p:spPr/>
        <p:txBody>
          <a:bodyPr/>
          <a:lstStyle/>
          <a:p>
            <a:r>
              <a:rPr lang="en-GB" dirty="0"/>
              <a:t>Lit results</a:t>
            </a:r>
          </a:p>
        </p:txBody>
      </p:sp>
      <p:sp>
        <p:nvSpPr>
          <p:cNvPr id="3" name="Content Placeholder 2">
            <a:extLst>
              <a:ext uri="{FF2B5EF4-FFF2-40B4-BE49-F238E27FC236}">
                <a16:creationId xmlns:a16="http://schemas.microsoft.com/office/drawing/2014/main" id="{8FAA704D-C297-DFE0-D951-265830F4607B}"/>
              </a:ext>
            </a:extLst>
          </p:cNvPr>
          <p:cNvSpPr>
            <a:spLocks noGrp="1"/>
          </p:cNvSpPr>
          <p:nvPr>
            <p:ph idx="1"/>
          </p:nvPr>
        </p:nvSpPr>
        <p:spPr>
          <a:xfrm>
            <a:off x="838200" y="1253331"/>
            <a:ext cx="10515600" cy="4351338"/>
          </a:xfrm>
        </p:spPr>
        <p:txBody>
          <a:bodyPr>
            <a:normAutofit fontScale="92500" lnSpcReduction="10000"/>
          </a:bodyPr>
          <a:lstStyle/>
          <a:p>
            <a:pPr marL="0" indent="0">
              <a:buNone/>
            </a:pPr>
            <a:r>
              <a:rPr lang="en-GB" dirty="0"/>
              <a:t>Vulkan will perform better than OpenGL on modern GPUs, but OpenGL could perform better on older GPUs. </a:t>
            </a:r>
          </a:p>
          <a:p>
            <a:pPr marL="0" indent="0">
              <a:buNone/>
            </a:pPr>
            <a:r>
              <a:rPr lang="en-GB" dirty="0"/>
              <a:t>Constrained Delaunay triangulation will be used due to its efficiency O(n^2) and its ability to retain the shape of a polygon on triangulation, unlike Delaunay. </a:t>
            </a:r>
          </a:p>
          <a:p>
            <a:pPr marL="0" indent="0">
              <a:buNone/>
            </a:pPr>
            <a:endParaRPr lang="en-GB" dirty="0"/>
          </a:p>
          <a:p>
            <a:pPr marL="0" indent="0">
              <a:buNone/>
            </a:pPr>
            <a:r>
              <a:rPr lang="en-GB" dirty="0"/>
              <a:t>Poisson sampling will be used as it is optimised, and will ensure a set distance between points, which is important as points being too close could result in floating point errors.</a:t>
            </a:r>
          </a:p>
          <a:p>
            <a:pPr marL="0" indent="0">
              <a:buNone/>
            </a:pPr>
            <a:r>
              <a:rPr lang="en-GB" dirty="0"/>
              <a:t>There isn’t any research that explicitly compares Vulkan and OpenGL in Voronoi.</a:t>
            </a:r>
          </a:p>
          <a:p>
            <a:pPr marL="0" indent="0">
              <a:buNone/>
            </a:pPr>
            <a:endParaRPr lang="en-GB" dirty="0"/>
          </a:p>
        </p:txBody>
      </p:sp>
    </p:spTree>
    <p:extLst>
      <p:ext uri="{BB962C8B-B14F-4D97-AF65-F5344CB8AC3E}">
        <p14:creationId xmlns:p14="http://schemas.microsoft.com/office/powerpoint/2010/main" val="379065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3AF3A-EBB3-72B1-B595-B286C927794D}"/>
              </a:ext>
            </a:extLst>
          </p:cNvPr>
          <p:cNvSpPr>
            <a:spLocks noGrp="1"/>
          </p:cNvSpPr>
          <p:nvPr>
            <p:ph type="title"/>
          </p:nvPr>
        </p:nvSpPr>
        <p:spPr/>
        <p:txBody>
          <a:bodyPr/>
          <a:lstStyle/>
          <a:p>
            <a:r>
              <a:rPr lang="en-GB" dirty="0"/>
              <a:t>State of the art</a:t>
            </a:r>
          </a:p>
        </p:txBody>
      </p:sp>
      <p:pic>
        <p:nvPicPr>
          <p:cNvPr id="7" name="Content Placeholder 6" descr="A white rectangular object with colorful lines&#10;&#10;AI-generated content may be incorrect.">
            <a:extLst>
              <a:ext uri="{FF2B5EF4-FFF2-40B4-BE49-F238E27FC236}">
                <a16:creationId xmlns:a16="http://schemas.microsoft.com/office/drawing/2014/main" id="{7CB3B73C-0B6B-93C3-DA2A-9564AF5A48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7203" y="1379398"/>
            <a:ext cx="3932590" cy="4351338"/>
          </a:xfrm>
        </p:spPr>
      </p:pic>
      <p:sp>
        <p:nvSpPr>
          <p:cNvPr id="8" name="TextBox 7">
            <a:extLst>
              <a:ext uri="{FF2B5EF4-FFF2-40B4-BE49-F238E27FC236}">
                <a16:creationId xmlns:a16="http://schemas.microsoft.com/office/drawing/2014/main" id="{B7A05D79-4A34-4D10-F98D-8B894F8BE7B2}"/>
              </a:ext>
            </a:extLst>
          </p:cNvPr>
          <p:cNvSpPr txBox="1"/>
          <p:nvPr/>
        </p:nvSpPr>
        <p:spPr>
          <a:xfrm>
            <a:off x="643738" y="5888736"/>
            <a:ext cx="3599078" cy="369332"/>
          </a:xfrm>
          <a:prstGeom prst="rect">
            <a:avLst/>
          </a:prstGeom>
          <a:noFill/>
        </p:spPr>
        <p:txBody>
          <a:bodyPr wrap="square" rtlCol="0">
            <a:spAutoFit/>
          </a:bodyPr>
          <a:lstStyle/>
          <a:p>
            <a:r>
              <a:rPr lang="en-GB" dirty="0"/>
              <a:t>Unreal Engine</a:t>
            </a:r>
          </a:p>
        </p:txBody>
      </p:sp>
      <p:pic>
        <p:nvPicPr>
          <p:cNvPr id="10" name="Picture 9" descr="A person holding a colorful object&#10;&#10;AI-generated content may be incorrect.">
            <a:extLst>
              <a:ext uri="{FF2B5EF4-FFF2-40B4-BE49-F238E27FC236}">
                <a16:creationId xmlns:a16="http://schemas.microsoft.com/office/drawing/2014/main" id="{A90F333D-BB6B-8D30-D9D7-6C731BB6BC7B}"/>
              </a:ext>
            </a:extLst>
          </p:cNvPr>
          <p:cNvPicPr>
            <a:picLocks noChangeAspect="1"/>
          </p:cNvPicPr>
          <p:nvPr/>
        </p:nvPicPr>
        <p:blipFill>
          <a:blip r:embed="rId3"/>
          <a:stretch>
            <a:fillRect/>
          </a:stretch>
        </p:blipFill>
        <p:spPr>
          <a:xfrm>
            <a:off x="6608073" y="1110722"/>
            <a:ext cx="4395393" cy="4636556"/>
          </a:xfrm>
          <a:prstGeom prst="rect">
            <a:avLst/>
          </a:prstGeom>
        </p:spPr>
      </p:pic>
      <p:sp>
        <p:nvSpPr>
          <p:cNvPr id="13" name="TextBox 12">
            <a:extLst>
              <a:ext uri="{FF2B5EF4-FFF2-40B4-BE49-F238E27FC236}">
                <a16:creationId xmlns:a16="http://schemas.microsoft.com/office/drawing/2014/main" id="{8D201251-EF19-075C-8362-D0DDBBBF84B1}"/>
              </a:ext>
            </a:extLst>
          </p:cNvPr>
          <p:cNvSpPr txBox="1"/>
          <p:nvPr/>
        </p:nvSpPr>
        <p:spPr>
          <a:xfrm>
            <a:off x="6425348" y="6155323"/>
            <a:ext cx="3694421" cy="369332"/>
          </a:xfrm>
          <a:prstGeom prst="rect">
            <a:avLst/>
          </a:prstGeom>
          <a:noFill/>
        </p:spPr>
        <p:txBody>
          <a:bodyPr wrap="square" rtlCol="0">
            <a:spAutoFit/>
          </a:bodyPr>
          <a:lstStyle/>
          <a:p>
            <a:r>
              <a:rPr lang="en-GB" dirty="0"/>
              <a:t>My Implementation</a:t>
            </a:r>
          </a:p>
        </p:txBody>
      </p:sp>
    </p:spTree>
    <p:extLst>
      <p:ext uri="{BB962C8B-B14F-4D97-AF65-F5344CB8AC3E}">
        <p14:creationId xmlns:p14="http://schemas.microsoft.com/office/powerpoint/2010/main" val="821290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7CAE2-D501-EFC8-2BC7-68E9BA47F8CF}"/>
              </a:ext>
            </a:extLst>
          </p:cNvPr>
          <p:cNvSpPr>
            <a:spLocks noGrp="1"/>
          </p:cNvSpPr>
          <p:nvPr>
            <p:ph type="title"/>
          </p:nvPr>
        </p:nvSpPr>
        <p:spPr>
          <a:xfrm>
            <a:off x="838200" y="500062"/>
            <a:ext cx="10515600" cy="1325563"/>
          </a:xfrm>
        </p:spPr>
        <p:txBody>
          <a:bodyPr/>
          <a:lstStyle/>
          <a:p>
            <a:r>
              <a:rPr lang="en-GB" dirty="0"/>
              <a:t>Quality Assurance</a:t>
            </a:r>
          </a:p>
        </p:txBody>
      </p:sp>
      <p:sp>
        <p:nvSpPr>
          <p:cNvPr id="3" name="Content Placeholder 2">
            <a:extLst>
              <a:ext uri="{FF2B5EF4-FFF2-40B4-BE49-F238E27FC236}">
                <a16:creationId xmlns:a16="http://schemas.microsoft.com/office/drawing/2014/main" id="{45B6FC2D-4A43-524E-D81B-10C3E5385171}"/>
              </a:ext>
            </a:extLst>
          </p:cNvPr>
          <p:cNvSpPr>
            <a:spLocks noGrp="1"/>
          </p:cNvSpPr>
          <p:nvPr>
            <p:ph idx="1"/>
          </p:nvPr>
        </p:nvSpPr>
        <p:spPr/>
        <p:txBody>
          <a:bodyPr/>
          <a:lstStyle/>
          <a:p>
            <a:r>
              <a:rPr lang="en-GB" dirty="0"/>
              <a:t>Polarity testing using unit test will be performed, helping to test that the program is functioning, and how well it responds to unexpected inputs. </a:t>
            </a:r>
          </a:p>
          <a:p>
            <a:r>
              <a:rPr lang="en-GB" dirty="0"/>
              <a:t>Standard Readability measurement tests such as lines of code, maintainability index and cyclomatic complexity will be conducted to assess the readability of the program.</a:t>
            </a:r>
          </a:p>
          <a:p>
            <a:r>
              <a:rPr lang="en-GB" dirty="0"/>
              <a:t>Assert statements will be used where appropriate to improve maintainability.</a:t>
            </a:r>
          </a:p>
        </p:txBody>
      </p:sp>
    </p:spTree>
    <p:extLst>
      <p:ext uri="{BB962C8B-B14F-4D97-AF65-F5344CB8AC3E}">
        <p14:creationId xmlns:p14="http://schemas.microsoft.com/office/powerpoint/2010/main" val="1748512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3B36F-B22E-FBA3-2041-83206414A77B}"/>
              </a:ext>
            </a:extLst>
          </p:cNvPr>
          <p:cNvSpPr>
            <a:spLocks noGrp="1"/>
          </p:cNvSpPr>
          <p:nvPr>
            <p:ph type="title"/>
          </p:nvPr>
        </p:nvSpPr>
        <p:spPr/>
        <p:txBody>
          <a:bodyPr/>
          <a:lstStyle/>
          <a:p>
            <a:r>
              <a:rPr lang="en-GB" dirty="0"/>
              <a:t>Legal</a:t>
            </a:r>
          </a:p>
        </p:txBody>
      </p:sp>
      <p:sp>
        <p:nvSpPr>
          <p:cNvPr id="3" name="Content Placeholder 2">
            <a:extLst>
              <a:ext uri="{FF2B5EF4-FFF2-40B4-BE49-F238E27FC236}">
                <a16:creationId xmlns:a16="http://schemas.microsoft.com/office/drawing/2014/main" id="{90F494F6-1F61-10CA-495B-6C6C1B422550}"/>
              </a:ext>
            </a:extLst>
          </p:cNvPr>
          <p:cNvSpPr>
            <a:spLocks noGrp="1"/>
          </p:cNvSpPr>
          <p:nvPr>
            <p:ph idx="1"/>
          </p:nvPr>
        </p:nvSpPr>
        <p:spPr/>
        <p:txBody>
          <a:bodyPr/>
          <a:lstStyle/>
          <a:p>
            <a:r>
              <a:rPr lang="en-GB" dirty="0"/>
              <a:t>Doesn’t violate GDPR.</a:t>
            </a:r>
          </a:p>
          <a:p>
            <a:r>
              <a:rPr lang="en-GB" dirty="0"/>
              <a:t>Voronoi diagrams and Voronoi clipping are in the public domain.</a:t>
            </a:r>
          </a:p>
          <a:p>
            <a:r>
              <a:rPr lang="en-GB" dirty="0"/>
              <a:t>Vulkan and OpenGL are in the public domain, however the implementations are not. However, as we don’t modify the drivers, this is not an issue. </a:t>
            </a:r>
          </a:p>
        </p:txBody>
      </p:sp>
    </p:spTree>
    <p:extLst>
      <p:ext uri="{BB962C8B-B14F-4D97-AF65-F5344CB8AC3E}">
        <p14:creationId xmlns:p14="http://schemas.microsoft.com/office/powerpoint/2010/main" val="1075758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39C9-625B-9841-97E2-D9900B8F211F}"/>
              </a:ext>
            </a:extLst>
          </p:cNvPr>
          <p:cNvSpPr>
            <a:spLocks noGrp="1"/>
          </p:cNvSpPr>
          <p:nvPr>
            <p:ph type="title"/>
          </p:nvPr>
        </p:nvSpPr>
        <p:spPr/>
        <p:txBody>
          <a:bodyPr/>
          <a:lstStyle/>
          <a:p>
            <a:r>
              <a:rPr lang="en-GB" dirty="0"/>
              <a:t>Social</a:t>
            </a:r>
          </a:p>
        </p:txBody>
      </p:sp>
      <p:sp>
        <p:nvSpPr>
          <p:cNvPr id="3" name="Content Placeholder 2">
            <a:extLst>
              <a:ext uri="{FF2B5EF4-FFF2-40B4-BE49-F238E27FC236}">
                <a16:creationId xmlns:a16="http://schemas.microsoft.com/office/drawing/2014/main" id="{8AE052A4-39C3-7795-A20C-F72F508A6DB9}"/>
              </a:ext>
            </a:extLst>
          </p:cNvPr>
          <p:cNvSpPr>
            <a:spLocks noGrp="1"/>
          </p:cNvSpPr>
          <p:nvPr>
            <p:ph idx="1"/>
          </p:nvPr>
        </p:nvSpPr>
        <p:spPr/>
        <p:txBody>
          <a:bodyPr/>
          <a:lstStyle/>
          <a:p>
            <a:r>
              <a:rPr lang="en-GB" dirty="0"/>
              <a:t>Could lower the hardware barrier for applications that use Voronoi. This would increase accessibility.</a:t>
            </a:r>
          </a:p>
          <a:p>
            <a:r>
              <a:rPr lang="en-GB" dirty="0"/>
              <a:t>Could shift the development trends if a significant performance advantage is shown by one of the API. This could result in increased hiring for that API, and a change in the educational priority's.</a:t>
            </a:r>
          </a:p>
        </p:txBody>
      </p:sp>
    </p:spTree>
    <p:extLst>
      <p:ext uri="{BB962C8B-B14F-4D97-AF65-F5344CB8AC3E}">
        <p14:creationId xmlns:p14="http://schemas.microsoft.com/office/powerpoint/2010/main" val="4042573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A2D4C-D5FA-94E3-3A59-E862798C5872}"/>
              </a:ext>
            </a:extLst>
          </p:cNvPr>
          <p:cNvSpPr>
            <a:spLocks noGrp="1"/>
          </p:cNvSpPr>
          <p:nvPr>
            <p:ph type="title"/>
          </p:nvPr>
        </p:nvSpPr>
        <p:spPr/>
        <p:txBody>
          <a:bodyPr/>
          <a:lstStyle/>
          <a:p>
            <a:r>
              <a:rPr lang="en-GB" dirty="0"/>
              <a:t>Ethical</a:t>
            </a:r>
          </a:p>
        </p:txBody>
      </p:sp>
      <p:sp>
        <p:nvSpPr>
          <p:cNvPr id="3" name="Content Placeholder 2">
            <a:extLst>
              <a:ext uri="{FF2B5EF4-FFF2-40B4-BE49-F238E27FC236}">
                <a16:creationId xmlns:a16="http://schemas.microsoft.com/office/drawing/2014/main" id="{A85B0C75-3CCE-5DA1-7C7E-890FB40D8138}"/>
              </a:ext>
            </a:extLst>
          </p:cNvPr>
          <p:cNvSpPr>
            <a:spLocks noGrp="1"/>
          </p:cNvSpPr>
          <p:nvPr>
            <p:ph idx="1"/>
          </p:nvPr>
        </p:nvSpPr>
        <p:spPr/>
        <p:txBody>
          <a:bodyPr/>
          <a:lstStyle/>
          <a:p>
            <a:r>
              <a:rPr lang="en-GB" dirty="0"/>
              <a:t>This project has been approved as low risk.</a:t>
            </a:r>
          </a:p>
          <a:p>
            <a:r>
              <a:rPr lang="en-GB" dirty="0"/>
              <a:t>Does not violate GDPR, Nuremburg code, </a:t>
            </a:r>
            <a:r>
              <a:rPr lang="en-GB" dirty="0" err="1"/>
              <a:t>Bcs</a:t>
            </a:r>
            <a:r>
              <a:rPr lang="en-GB" dirty="0"/>
              <a:t> code of conduct.</a:t>
            </a:r>
          </a:p>
          <a:p>
            <a:endParaRPr lang="en-GB" dirty="0"/>
          </a:p>
        </p:txBody>
      </p:sp>
    </p:spTree>
    <p:extLst>
      <p:ext uri="{BB962C8B-B14F-4D97-AF65-F5344CB8AC3E}">
        <p14:creationId xmlns:p14="http://schemas.microsoft.com/office/powerpoint/2010/main" val="40027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0714-99D1-C812-7A21-2EFE609A4213}"/>
              </a:ext>
            </a:extLst>
          </p:cNvPr>
          <p:cNvSpPr>
            <a:spLocks noGrp="1"/>
          </p:cNvSpPr>
          <p:nvPr>
            <p:ph type="title"/>
          </p:nvPr>
        </p:nvSpPr>
        <p:spPr/>
        <p:txBody>
          <a:bodyPr/>
          <a:lstStyle/>
          <a:p>
            <a:r>
              <a:rPr lang="en-GB" dirty="0"/>
              <a:t>Professional</a:t>
            </a:r>
          </a:p>
        </p:txBody>
      </p:sp>
      <p:sp>
        <p:nvSpPr>
          <p:cNvPr id="3" name="Content Placeholder 2">
            <a:extLst>
              <a:ext uri="{FF2B5EF4-FFF2-40B4-BE49-F238E27FC236}">
                <a16:creationId xmlns:a16="http://schemas.microsoft.com/office/drawing/2014/main" id="{5BBBDAC6-C6A0-FBD9-83DD-53A07E17D03A}"/>
              </a:ext>
            </a:extLst>
          </p:cNvPr>
          <p:cNvSpPr>
            <a:spLocks noGrp="1"/>
          </p:cNvSpPr>
          <p:nvPr>
            <p:ph idx="1"/>
          </p:nvPr>
        </p:nvSpPr>
        <p:spPr/>
        <p:txBody>
          <a:bodyPr/>
          <a:lstStyle/>
          <a:p>
            <a:r>
              <a:rPr lang="en-GB" dirty="0"/>
              <a:t>Adheres to the </a:t>
            </a:r>
            <a:r>
              <a:rPr lang="en-GB" dirty="0" err="1"/>
              <a:t>bcs</a:t>
            </a:r>
            <a:r>
              <a:rPr lang="en-GB" dirty="0"/>
              <a:t> code of conduct of not claiming a level of competence one does not possess by stating results have not been tested on a wide variety of machines.</a:t>
            </a:r>
          </a:p>
          <a:p>
            <a:r>
              <a:rPr lang="en-GB" dirty="0"/>
              <a:t>Follows Nuremburg code by providing research which will only benefit society, which this paper does by conducting research  to clarify the more optimised API for Voronoi destruction.</a:t>
            </a:r>
          </a:p>
        </p:txBody>
      </p:sp>
    </p:spTree>
    <p:extLst>
      <p:ext uri="{BB962C8B-B14F-4D97-AF65-F5344CB8AC3E}">
        <p14:creationId xmlns:p14="http://schemas.microsoft.com/office/powerpoint/2010/main" val="2483906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7B4D-3198-4011-E7F5-4F746128BF63}"/>
              </a:ext>
            </a:extLst>
          </p:cNvPr>
          <p:cNvSpPr>
            <a:spLocks noGrp="1"/>
          </p:cNvSpPr>
          <p:nvPr>
            <p:ph type="title"/>
          </p:nvPr>
        </p:nvSpPr>
        <p:spPr/>
        <p:txBody>
          <a:bodyPr/>
          <a:lstStyle/>
          <a:p>
            <a:r>
              <a:rPr lang="en-GB" dirty="0"/>
              <a:t>Sustainability</a:t>
            </a:r>
          </a:p>
        </p:txBody>
      </p:sp>
      <p:sp>
        <p:nvSpPr>
          <p:cNvPr id="3" name="Content Placeholder 2">
            <a:extLst>
              <a:ext uri="{FF2B5EF4-FFF2-40B4-BE49-F238E27FC236}">
                <a16:creationId xmlns:a16="http://schemas.microsoft.com/office/drawing/2014/main" id="{C0F9AA77-988B-6CC9-FD14-2EFB45026FC4}"/>
              </a:ext>
            </a:extLst>
          </p:cNvPr>
          <p:cNvSpPr>
            <a:spLocks noGrp="1"/>
          </p:cNvSpPr>
          <p:nvPr>
            <p:ph idx="1"/>
          </p:nvPr>
        </p:nvSpPr>
        <p:spPr/>
        <p:txBody>
          <a:bodyPr/>
          <a:lstStyle/>
          <a:p>
            <a:r>
              <a:rPr lang="en-GB" dirty="0"/>
              <a:t>Games as a whole consume a large amount of electricity, therefore optimising a widely used destruction algorithm could lead to a decrease in the overall consumption of </a:t>
            </a:r>
            <a:r>
              <a:rPr lang="en-GB" dirty="0" err="1"/>
              <a:t>electrisity</a:t>
            </a:r>
            <a:r>
              <a:rPr lang="en-GB" dirty="0"/>
              <a:t> in games that use Voronoi destruction.  </a:t>
            </a:r>
          </a:p>
        </p:txBody>
      </p:sp>
    </p:spTree>
    <p:extLst>
      <p:ext uri="{BB962C8B-B14F-4D97-AF65-F5344CB8AC3E}">
        <p14:creationId xmlns:p14="http://schemas.microsoft.com/office/powerpoint/2010/main" val="2621667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CD571-4ABA-6C19-1D8A-7D1DB1F12D11}"/>
              </a:ext>
            </a:extLst>
          </p:cNvPr>
          <p:cNvSpPr>
            <a:spLocks noGrp="1"/>
          </p:cNvSpPr>
          <p:nvPr>
            <p:ph type="title"/>
          </p:nvPr>
        </p:nvSpPr>
        <p:spPr/>
        <p:txBody>
          <a:bodyPr/>
          <a:lstStyle/>
          <a:p>
            <a:r>
              <a:rPr lang="en-GB" dirty="0"/>
              <a:t>Project plan</a:t>
            </a:r>
          </a:p>
        </p:txBody>
      </p:sp>
      <p:pic>
        <p:nvPicPr>
          <p:cNvPr id="7" name="Content Placeholder 6" descr="A screenshot of a project&#10;&#10;AI-generated content may be incorrect.">
            <a:extLst>
              <a:ext uri="{FF2B5EF4-FFF2-40B4-BE49-F238E27FC236}">
                <a16:creationId xmlns:a16="http://schemas.microsoft.com/office/drawing/2014/main" id="{A57632FB-9BE7-2714-60C1-9F37024305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253" y="1322024"/>
            <a:ext cx="11920251" cy="5535975"/>
          </a:xfrm>
        </p:spPr>
      </p:pic>
    </p:spTree>
    <p:extLst>
      <p:ext uri="{BB962C8B-B14F-4D97-AF65-F5344CB8AC3E}">
        <p14:creationId xmlns:p14="http://schemas.microsoft.com/office/powerpoint/2010/main" val="847491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B438D-CBB6-EB76-8428-F619A9E87981}"/>
              </a:ext>
            </a:extLst>
          </p:cNvPr>
          <p:cNvSpPr>
            <a:spLocks noGrp="1"/>
          </p:cNvSpPr>
          <p:nvPr>
            <p:ph type="title"/>
          </p:nvPr>
        </p:nvSpPr>
        <p:spPr>
          <a:xfrm>
            <a:off x="1003896" y="745614"/>
            <a:ext cx="10515600" cy="4808292"/>
          </a:xfrm>
        </p:spPr>
        <p:txBody>
          <a:bodyPr/>
          <a:lstStyle/>
          <a:p>
            <a:pPr algn="ctr"/>
            <a:r>
              <a:rPr lang="en-GB" dirty="0"/>
              <a:t>Thank you for listening!</a:t>
            </a:r>
          </a:p>
        </p:txBody>
      </p:sp>
    </p:spTree>
    <p:extLst>
      <p:ext uri="{BB962C8B-B14F-4D97-AF65-F5344CB8AC3E}">
        <p14:creationId xmlns:p14="http://schemas.microsoft.com/office/powerpoint/2010/main" val="1575650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854</Words>
  <Application>Microsoft Office PowerPoint</Application>
  <PresentationFormat>Widescreen</PresentationFormat>
  <Paragraphs>60</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A Comparison of Voronoi Fracturing in Vulkan and OpenGL</vt:lpstr>
      <vt:lpstr>Context</vt:lpstr>
      <vt:lpstr>Context</vt:lpstr>
      <vt:lpstr>Justification</vt:lpstr>
      <vt:lpstr>Question and Hypothesis</vt:lpstr>
      <vt:lpstr>Method</vt:lpstr>
      <vt:lpstr>Method</vt:lpstr>
      <vt:lpstr>Challenges</vt:lpstr>
      <vt:lpstr>Lit results</vt:lpstr>
      <vt:lpstr>State of the art</vt:lpstr>
      <vt:lpstr>Quality Assurance</vt:lpstr>
      <vt:lpstr>Legal</vt:lpstr>
      <vt:lpstr>Social</vt:lpstr>
      <vt:lpstr>Ethical</vt:lpstr>
      <vt:lpstr>Professional</vt:lpstr>
      <vt:lpstr>Sustainability</vt:lpstr>
      <vt:lpstr>Project plan</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LLOYD</dc:creator>
  <cp:lastModifiedBy>SAM LLOYD</cp:lastModifiedBy>
  <cp:revision>3</cp:revision>
  <dcterms:created xsi:type="dcterms:W3CDTF">2025-12-08T18:02:21Z</dcterms:created>
  <dcterms:modified xsi:type="dcterms:W3CDTF">2025-12-11T21:25:02Z</dcterms:modified>
</cp:coreProperties>
</file>