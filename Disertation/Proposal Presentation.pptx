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2"/>
  </p:notesMasterIdLst>
  <p:sldIdLst>
    <p:sldId id="256" r:id="rId2"/>
    <p:sldId id="257" r:id="rId3"/>
    <p:sldId id="258" r:id="rId4"/>
    <p:sldId id="259" r:id="rId5"/>
    <p:sldId id="263" r:id="rId6"/>
    <p:sldId id="260" r:id="rId7"/>
    <p:sldId id="273" r:id="rId8"/>
    <p:sldId id="272" r:id="rId9"/>
    <p:sldId id="274" r:id="rId10"/>
    <p:sldId id="261" r:id="rId11"/>
    <p:sldId id="262" r:id="rId12"/>
    <p:sldId id="264" r:id="rId13"/>
    <p:sldId id="265" r:id="rId14"/>
    <p:sldId id="266" r:id="rId15"/>
    <p:sldId id="267" r:id="rId16"/>
    <p:sldId id="268" r:id="rId17"/>
    <p:sldId id="275" r:id="rId18"/>
    <p:sldId id="278" r:id="rId19"/>
    <p:sldId id="279" r:id="rId20"/>
    <p:sldId id="276" r:id="rId21"/>
    <p:sldId id="280" r:id="rId22"/>
    <p:sldId id="277" r:id="rId23"/>
    <p:sldId id="281" r:id="rId24"/>
    <p:sldId id="282" r:id="rId25"/>
    <p:sldId id="284" r:id="rId26"/>
    <p:sldId id="285" r:id="rId27"/>
    <p:sldId id="286" r:id="rId28"/>
    <p:sldId id="283" r:id="rId29"/>
    <p:sldId id="287" r:id="rId30"/>
    <p:sldId id="271" r:id="rId3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11" autoAdjust="0"/>
    <p:restoredTop sz="94660"/>
  </p:normalViewPr>
  <p:slideViewPr>
    <p:cSldViewPr snapToGrid="0">
      <p:cViewPr varScale="1">
        <p:scale>
          <a:sx n="104" d="100"/>
          <a:sy n="104" d="100"/>
        </p:scale>
        <p:origin x="316" y="8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92AB1CB-D3B1-4476-BA2F-6E11FCC56890}" type="datetimeFigureOut">
              <a:rPr lang="en-GB" smtClean="0"/>
              <a:t>06/04/2026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2F0EA92-8CE2-42A2-A753-B089ACC74005}" type="slidenum">
              <a:rPr lang="en-GB" smtClean="0"/>
              <a:t>‹#›</a:t>
            </a:fld>
            <a:endParaRPr lang="en-GB"/>
          </a:p>
        </p:txBody>
      </p:sp>
    </p:spTree>
    <p:extLst>
      <p:ext uri="{BB962C8B-B14F-4D97-AF65-F5344CB8AC3E}">
        <p14:creationId xmlns:p14="http://schemas.microsoft.com/office/powerpoint/2010/main" val="8638043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32F0EA92-8CE2-42A2-A753-B089ACC74005}" type="slidenum">
              <a:rPr lang="en-GB" smtClean="0"/>
              <a:t>1</a:t>
            </a:fld>
            <a:endParaRPr lang="en-GB"/>
          </a:p>
        </p:txBody>
      </p:sp>
    </p:spTree>
    <p:extLst>
      <p:ext uri="{BB962C8B-B14F-4D97-AF65-F5344CB8AC3E}">
        <p14:creationId xmlns:p14="http://schemas.microsoft.com/office/powerpoint/2010/main" val="419537682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32F0EA92-8CE2-42A2-A753-B089ACC74005}" type="slidenum">
              <a:rPr lang="en-GB" smtClean="0"/>
              <a:t>17</a:t>
            </a:fld>
            <a:endParaRPr lang="en-GB"/>
          </a:p>
        </p:txBody>
      </p:sp>
    </p:spTree>
    <p:extLst>
      <p:ext uri="{BB962C8B-B14F-4D97-AF65-F5344CB8AC3E}">
        <p14:creationId xmlns:p14="http://schemas.microsoft.com/office/powerpoint/2010/main" val="13131166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E78826-C63F-7B85-64E2-9371971B55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CF435DA-CACB-ADAF-4F09-1E71EFBFB7E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7CFFB7C-85C0-60E5-C670-2EFC77AC251F}"/>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77ACD7F0-29D8-F389-0762-E6DFC5729ABB}"/>
              </a:ext>
            </a:extLst>
          </p:cNvPr>
          <p:cNvSpPr>
            <a:spLocks noGrp="1"/>
          </p:cNvSpPr>
          <p:nvPr>
            <p:ph type="sldNum" sz="quarter" idx="5"/>
          </p:nvPr>
        </p:nvSpPr>
        <p:spPr/>
        <p:txBody>
          <a:bodyPr/>
          <a:lstStyle/>
          <a:p>
            <a:fld id="{32F0EA92-8CE2-42A2-A753-B089ACC74005}" type="slidenum">
              <a:rPr lang="en-GB" smtClean="0"/>
              <a:t>18</a:t>
            </a:fld>
            <a:endParaRPr lang="en-GB"/>
          </a:p>
        </p:txBody>
      </p:sp>
    </p:spTree>
    <p:extLst>
      <p:ext uri="{BB962C8B-B14F-4D97-AF65-F5344CB8AC3E}">
        <p14:creationId xmlns:p14="http://schemas.microsoft.com/office/powerpoint/2010/main" val="29371357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E513B6-7822-3CC0-F958-123C7AB8DF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7F82415-13DB-152E-6B3B-5E80820C80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5FA473-123A-92BD-DB8C-687FD55A2335}"/>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DD80E13F-2A28-3397-F10E-2AA6E74D838E}"/>
              </a:ext>
            </a:extLst>
          </p:cNvPr>
          <p:cNvSpPr>
            <a:spLocks noGrp="1"/>
          </p:cNvSpPr>
          <p:nvPr>
            <p:ph type="sldNum" sz="quarter" idx="5"/>
          </p:nvPr>
        </p:nvSpPr>
        <p:spPr/>
        <p:txBody>
          <a:bodyPr/>
          <a:lstStyle/>
          <a:p>
            <a:fld id="{32F0EA92-8CE2-42A2-A753-B089ACC74005}" type="slidenum">
              <a:rPr lang="en-GB" smtClean="0"/>
              <a:t>19</a:t>
            </a:fld>
            <a:endParaRPr lang="en-GB"/>
          </a:p>
        </p:txBody>
      </p:sp>
    </p:spTree>
    <p:extLst>
      <p:ext uri="{BB962C8B-B14F-4D97-AF65-F5344CB8AC3E}">
        <p14:creationId xmlns:p14="http://schemas.microsoft.com/office/powerpoint/2010/main" val="156290642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1F0EE-36A3-393F-0FFF-A0CD837B62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9F9A2C-4C7D-AA4E-2FEA-C62BDE45C7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B282FE-60DD-B21D-2C46-B5ECEF394ED9}"/>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4D37490E-7C8E-D581-64F2-0510CBAE5EC4}"/>
              </a:ext>
            </a:extLst>
          </p:cNvPr>
          <p:cNvSpPr>
            <a:spLocks noGrp="1"/>
          </p:cNvSpPr>
          <p:nvPr>
            <p:ph type="sldNum" sz="quarter" idx="5"/>
          </p:nvPr>
        </p:nvSpPr>
        <p:spPr/>
        <p:txBody>
          <a:bodyPr/>
          <a:lstStyle/>
          <a:p>
            <a:fld id="{32F0EA92-8CE2-42A2-A753-B089ACC74005}" type="slidenum">
              <a:rPr lang="en-GB" smtClean="0"/>
              <a:t>20</a:t>
            </a:fld>
            <a:endParaRPr lang="en-GB"/>
          </a:p>
        </p:txBody>
      </p:sp>
    </p:spTree>
    <p:extLst>
      <p:ext uri="{BB962C8B-B14F-4D97-AF65-F5344CB8AC3E}">
        <p14:creationId xmlns:p14="http://schemas.microsoft.com/office/powerpoint/2010/main" val="123846133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0E37C5-2A9E-FA7C-F608-562D2EA4A7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D4F518-ABE2-73F2-3A49-EACB7416FD5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193265-3BCC-8970-C231-4C25F9F870BC}"/>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C403F5EC-EFA1-8978-8EE8-134441DC652C}"/>
              </a:ext>
            </a:extLst>
          </p:cNvPr>
          <p:cNvSpPr>
            <a:spLocks noGrp="1"/>
          </p:cNvSpPr>
          <p:nvPr>
            <p:ph type="sldNum" sz="quarter" idx="5"/>
          </p:nvPr>
        </p:nvSpPr>
        <p:spPr/>
        <p:txBody>
          <a:bodyPr/>
          <a:lstStyle/>
          <a:p>
            <a:fld id="{32F0EA92-8CE2-42A2-A753-B089ACC74005}" type="slidenum">
              <a:rPr lang="en-GB" smtClean="0"/>
              <a:t>21</a:t>
            </a:fld>
            <a:endParaRPr lang="en-GB"/>
          </a:p>
        </p:txBody>
      </p:sp>
    </p:spTree>
    <p:extLst>
      <p:ext uri="{BB962C8B-B14F-4D97-AF65-F5344CB8AC3E}">
        <p14:creationId xmlns:p14="http://schemas.microsoft.com/office/powerpoint/2010/main" val="346329105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95B785-B190-7336-6980-ECB59FFCA7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884DCF-B917-CDEA-A7C2-5564B216233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F91758-F5B8-4DA3-41D3-E34451FC752A}"/>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E4DD19BC-1449-0A7A-A57F-EDEDA6D98341}"/>
              </a:ext>
            </a:extLst>
          </p:cNvPr>
          <p:cNvSpPr>
            <a:spLocks noGrp="1"/>
          </p:cNvSpPr>
          <p:nvPr>
            <p:ph type="sldNum" sz="quarter" idx="5"/>
          </p:nvPr>
        </p:nvSpPr>
        <p:spPr/>
        <p:txBody>
          <a:bodyPr/>
          <a:lstStyle/>
          <a:p>
            <a:fld id="{32F0EA92-8CE2-42A2-A753-B089ACC74005}" type="slidenum">
              <a:rPr lang="en-GB" smtClean="0"/>
              <a:t>22</a:t>
            </a:fld>
            <a:endParaRPr lang="en-GB"/>
          </a:p>
        </p:txBody>
      </p:sp>
    </p:spTree>
    <p:extLst>
      <p:ext uri="{BB962C8B-B14F-4D97-AF65-F5344CB8AC3E}">
        <p14:creationId xmlns:p14="http://schemas.microsoft.com/office/powerpoint/2010/main" val="94667354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3B6094-5BD5-F72D-E42A-6D9EFB77D7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5B96D8-6483-9E74-EE69-758DDA94D44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53DB0DA-CE1B-A8FD-636A-284B76D3687D}"/>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678A83FF-0EB9-E596-B439-E21CC0B5CE1B}"/>
              </a:ext>
            </a:extLst>
          </p:cNvPr>
          <p:cNvSpPr>
            <a:spLocks noGrp="1"/>
          </p:cNvSpPr>
          <p:nvPr>
            <p:ph type="sldNum" sz="quarter" idx="5"/>
          </p:nvPr>
        </p:nvSpPr>
        <p:spPr/>
        <p:txBody>
          <a:bodyPr/>
          <a:lstStyle/>
          <a:p>
            <a:fld id="{32F0EA92-8CE2-42A2-A753-B089ACC74005}" type="slidenum">
              <a:rPr lang="en-GB" smtClean="0"/>
              <a:t>23</a:t>
            </a:fld>
            <a:endParaRPr lang="en-GB"/>
          </a:p>
        </p:txBody>
      </p:sp>
    </p:spTree>
    <p:extLst>
      <p:ext uri="{BB962C8B-B14F-4D97-AF65-F5344CB8AC3E}">
        <p14:creationId xmlns:p14="http://schemas.microsoft.com/office/powerpoint/2010/main" val="191969604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F594E7-5375-2787-9C61-DC5EC043D1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86B9D8-C705-740A-01FB-052BC659AB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A50F67-A928-6A71-4B29-6A3C5E13CBCD}"/>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0D9330F4-BD9B-3EF5-3BEB-758A7E0BB327}"/>
              </a:ext>
            </a:extLst>
          </p:cNvPr>
          <p:cNvSpPr>
            <a:spLocks noGrp="1"/>
          </p:cNvSpPr>
          <p:nvPr>
            <p:ph type="sldNum" sz="quarter" idx="5"/>
          </p:nvPr>
        </p:nvSpPr>
        <p:spPr/>
        <p:txBody>
          <a:bodyPr/>
          <a:lstStyle/>
          <a:p>
            <a:fld id="{32F0EA92-8CE2-42A2-A753-B089ACC74005}" type="slidenum">
              <a:rPr lang="en-GB" smtClean="0"/>
              <a:t>24</a:t>
            </a:fld>
            <a:endParaRPr lang="en-GB"/>
          </a:p>
        </p:txBody>
      </p:sp>
    </p:spTree>
    <p:extLst>
      <p:ext uri="{BB962C8B-B14F-4D97-AF65-F5344CB8AC3E}">
        <p14:creationId xmlns:p14="http://schemas.microsoft.com/office/powerpoint/2010/main" val="20440581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419ED8-18AA-806F-035E-1B5EFC59429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2B5DC6-F383-419E-DB0C-3F492AC1819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92AA42-D3F1-47BE-BD47-A62C4F5F7453}"/>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3DC8B126-85E5-37BE-2233-F3C62D9C279D}"/>
              </a:ext>
            </a:extLst>
          </p:cNvPr>
          <p:cNvSpPr>
            <a:spLocks noGrp="1"/>
          </p:cNvSpPr>
          <p:nvPr>
            <p:ph type="sldNum" sz="quarter" idx="5"/>
          </p:nvPr>
        </p:nvSpPr>
        <p:spPr/>
        <p:txBody>
          <a:bodyPr/>
          <a:lstStyle/>
          <a:p>
            <a:fld id="{32F0EA92-8CE2-42A2-A753-B089ACC74005}" type="slidenum">
              <a:rPr lang="en-GB" smtClean="0"/>
              <a:t>25</a:t>
            </a:fld>
            <a:endParaRPr lang="en-GB"/>
          </a:p>
        </p:txBody>
      </p:sp>
    </p:spTree>
    <p:extLst>
      <p:ext uri="{BB962C8B-B14F-4D97-AF65-F5344CB8AC3E}">
        <p14:creationId xmlns:p14="http://schemas.microsoft.com/office/powerpoint/2010/main" val="339889482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859D3A-A090-D36C-3E58-939259A731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4F6472-9074-FBD8-A38A-96A9FEDD03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644CAC-A518-BE47-FAC7-8A5F571B76B9}"/>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010ED1C2-50C7-13A2-85C9-47F671F56D4E}"/>
              </a:ext>
            </a:extLst>
          </p:cNvPr>
          <p:cNvSpPr>
            <a:spLocks noGrp="1"/>
          </p:cNvSpPr>
          <p:nvPr>
            <p:ph type="sldNum" sz="quarter" idx="5"/>
          </p:nvPr>
        </p:nvSpPr>
        <p:spPr/>
        <p:txBody>
          <a:bodyPr/>
          <a:lstStyle/>
          <a:p>
            <a:fld id="{32F0EA92-8CE2-42A2-A753-B089ACC74005}" type="slidenum">
              <a:rPr lang="en-GB" smtClean="0"/>
              <a:t>26</a:t>
            </a:fld>
            <a:endParaRPr lang="en-GB"/>
          </a:p>
        </p:txBody>
      </p:sp>
    </p:spTree>
    <p:extLst>
      <p:ext uri="{BB962C8B-B14F-4D97-AF65-F5344CB8AC3E}">
        <p14:creationId xmlns:p14="http://schemas.microsoft.com/office/powerpoint/2010/main" val="70887603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962040-5A03-79DC-EF7C-54480692F7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1FC4F6-14E7-EB9B-F89B-DA8E978FFDB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42B73CA-889D-0334-28A4-03274FE14C10}"/>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D414A2E4-C472-DF43-A08F-667B3BC475B0}"/>
              </a:ext>
            </a:extLst>
          </p:cNvPr>
          <p:cNvSpPr>
            <a:spLocks noGrp="1"/>
          </p:cNvSpPr>
          <p:nvPr>
            <p:ph type="sldNum" sz="quarter" idx="5"/>
          </p:nvPr>
        </p:nvSpPr>
        <p:spPr/>
        <p:txBody>
          <a:bodyPr/>
          <a:lstStyle/>
          <a:p>
            <a:fld id="{32F0EA92-8CE2-42A2-A753-B089ACC74005}" type="slidenum">
              <a:rPr lang="en-GB" smtClean="0"/>
              <a:t>27</a:t>
            </a:fld>
            <a:endParaRPr lang="en-GB"/>
          </a:p>
        </p:txBody>
      </p:sp>
    </p:spTree>
    <p:extLst>
      <p:ext uri="{BB962C8B-B14F-4D97-AF65-F5344CB8AC3E}">
        <p14:creationId xmlns:p14="http://schemas.microsoft.com/office/powerpoint/2010/main" val="401277340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0442C9-F4E6-5041-733A-AD6112F005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612A00-C433-9234-1734-AB8EEB42B44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CF0C61A-B12A-7DFF-2C9E-4E0C5FAB6AD3}"/>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C548351C-6C21-8549-51C9-562A5633275E}"/>
              </a:ext>
            </a:extLst>
          </p:cNvPr>
          <p:cNvSpPr>
            <a:spLocks noGrp="1"/>
          </p:cNvSpPr>
          <p:nvPr>
            <p:ph type="sldNum" sz="quarter" idx="5"/>
          </p:nvPr>
        </p:nvSpPr>
        <p:spPr/>
        <p:txBody>
          <a:bodyPr/>
          <a:lstStyle/>
          <a:p>
            <a:fld id="{32F0EA92-8CE2-42A2-A753-B089ACC74005}" type="slidenum">
              <a:rPr lang="en-GB" smtClean="0"/>
              <a:t>28</a:t>
            </a:fld>
            <a:endParaRPr lang="en-GB"/>
          </a:p>
        </p:txBody>
      </p:sp>
    </p:spTree>
    <p:extLst>
      <p:ext uri="{BB962C8B-B14F-4D97-AF65-F5344CB8AC3E}">
        <p14:creationId xmlns:p14="http://schemas.microsoft.com/office/powerpoint/2010/main" val="120720379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DA6D04-476C-391F-CA17-2155B192F5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AD6161-18DD-90F9-CAF5-C3D740ED945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C61809-C07C-6ED9-CBB1-158FCC36994D}"/>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52329D0E-F700-93B5-44AB-FD106D858F8B}"/>
              </a:ext>
            </a:extLst>
          </p:cNvPr>
          <p:cNvSpPr>
            <a:spLocks noGrp="1"/>
          </p:cNvSpPr>
          <p:nvPr>
            <p:ph type="sldNum" sz="quarter" idx="5"/>
          </p:nvPr>
        </p:nvSpPr>
        <p:spPr/>
        <p:txBody>
          <a:bodyPr/>
          <a:lstStyle/>
          <a:p>
            <a:fld id="{32F0EA92-8CE2-42A2-A753-B089ACC74005}" type="slidenum">
              <a:rPr lang="en-GB" smtClean="0"/>
              <a:t>29</a:t>
            </a:fld>
            <a:endParaRPr lang="en-GB"/>
          </a:p>
        </p:txBody>
      </p:sp>
    </p:spTree>
    <p:extLst>
      <p:ext uri="{BB962C8B-B14F-4D97-AF65-F5344CB8AC3E}">
        <p14:creationId xmlns:p14="http://schemas.microsoft.com/office/powerpoint/2010/main" val="208653852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40ADFD-3FB1-C92E-1887-175B7C94EA7B}"/>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p>
        </p:txBody>
      </p:sp>
      <p:sp>
        <p:nvSpPr>
          <p:cNvPr id="3" name="Subtitle 2">
            <a:extLst>
              <a:ext uri="{FF2B5EF4-FFF2-40B4-BE49-F238E27FC236}">
                <a16:creationId xmlns:a16="http://schemas.microsoft.com/office/drawing/2014/main" id="{4840F585-84FC-AC8C-AEB4-977F9D389F4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p>
        </p:txBody>
      </p:sp>
      <p:sp>
        <p:nvSpPr>
          <p:cNvPr id="4" name="Date Placeholder 3">
            <a:extLst>
              <a:ext uri="{FF2B5EF4-FFF2-40B4-BE49-F238E27FC236}">
                <a16:creationId xmlns:a16="http://schemas.microsoft.com/office/drawing/2014/main" id="{6CACB27F-8168-603D-2E79-095147934D19}"/>
              </a:ext>
            </a:extLst>
          </p:cNvPr>
          <p:cNvSpPr>
            <a:spLocks noGrp="1"/>
          </p:cNvSpPr>
          <p:nvPr>
            <p:ph type="dt" sz="half" idx="10"/>
          </p:nvPr>
        </p:nvSpPr>
        <p:spPr/>
        <p:txBody>
          <a:bodyPr/>
          <a:lstStyle/>
          <a:p>
            <a:fld id="{D6DC6B3C-862F-4922-BBAC-0DA0B9373CD7}" type="datetimeFigureOut">
              <a:rPr lang="en-GB" smtClean="0"/>
              <a:t>06/04/2026</a:t>
            </a:fld>
            <a:endParaRPr lang="en-GB"/>
          </a:p>
        </p:txBody>
      </p:sp>
      <p:sp>
        <p:nvSpPr>
          <p:cNvPr id="5" name="Footer Placeholder 4">
            <a:extLst>
              <a:ext uri="{FF2B5EF4-FFF2-40B4-BE49-F238E27FC236}">
                <a16:creationId xmlns:a16="http://schemas.microsoft.com/office/drawing/2014/main" id="{D0368A7E-B5AB-A863-ECB2-FC1F5094FBC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1BB8FD90-5CBA-7B0B-C164-1811672C02EB}"/>
              </a:ext>
            </a:extLst>
          </p:cNvPr>
          <p:cNvSpPr>
            <a:spLocks noGrp="1"/>
          </p:cNvSpPr>
          <p:nvPr>
            <p:ph type="sldNum" sz="quarter" idx="12"/>
          </p:nvPr>
        </p:nvSpPr>
        <p:spPr/>
        <p:txBody>
          <a:bodyPr/>
          <a:lstStyle/>
          <a:p>
            <a:fld id="{029F8418-9D04-4A4B-AE55-03BBA6C4509D}" type="slidenum">
              <a:rPr lang="en-GB" smtClean="0"/>
              <a:t>‹#›</a:t>
            </a:fld>
            <a:endParaRPr lang="en-GB"/>
          </a:p>
        </p:txBody>
      </p:sp>
    </p:spTree>
    <p:extLst>
      <p:ext uri="{BB962C8B-B14F-4D97-AF65-F5344CB8AC3E}">
        <p14:creationId xmlns:p14="http://schemas.microsoft.com/office/powerpoint/2010/main" val="204679567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7EAE9B-1636-949D-8940-721AFCEFBE5E}"/>
              </a:ext>
            </a:extLst>
          </p:cNvPr>
          <p:cNvSpPr>
            <a:spLocks noGrp="1"/>
          </p:cNvSpPr>
          <p:nvPr>
            <p:ph type="title"/>
          </p:nvPr>
        </p:nvSpPr>
        <p:spPr/>
        <p:txBody>
          <a:bodyPr/>
          <a:lstStyle/>
          <a:p>
            <a:r>
              <a:rPr lang="en-GB"/>
              <a:t>Click to edit Master title style</a:t>
            </a:r>
          </a:p>
        </p:txBody>
      </p:sp>
      <p:sp>
        <p:nvSpPr>
          <p:cNvPr id="3" name="Content Placeholder 2">
            <a:extLst>
              <a:ext uri="{FF2B5EF4-FFF2-40B4-BE49-F238E27FC236}">
                <a16:creationId xmlns:a16="http://schemas.microsoft.com/office/drawing/2014/main" id="{EB5B61AC-BFA1-1DB8-226B-0EA267D69F84}"/>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1FC93A91-C461-72A9-D40F-A6EC382C6BD9}"/>
              </a:ext>
            </a:extLst>
          </p:cNvPr>
          <p:cNvSpPr>
            <a:spLocks noGrp="1"/>
          </p:cNvSpPr>
          <p:nvPr>
            <p:ph type="dt" sz="half" idx="10"/>
          </p:nvPr>
        </p:nvSpPr>
        <p:spPr/>
        <p:txBody>
          <a:bodyPr/>
          <a:lstStyle/>
          <a:p>
            <a:fld id="{D6DC6B3C-862F-4922-BBAC-0DA0B9373CD7}" type="datetimeFigureOut">
              <a:rPr lang="en-GB" smtClean="0"/>
              <a:t>06/04/2026</a:t>
            </a:fld>
            <a:endParaRPr lang="en-GB"/>
          </a:p>
        </p:txBody>
      </p:sp>
      <p:sp>
        <p:nvSpPr>
          <p:cNvPr id="5" name="Footer Placeholder 4">
            <a:extLst>
              <a:ext uri="{FF2B5EF4-FFF2-40B4-BE49-F238E27FC236}">
                <a16:creationId xmlns:a16="http://schemas.microsoft.com/office/drawing/2014/main" id="{D5AFD567-E9A2-0551-E188-955260EF1BA7}"/>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1DF5132D-8717-FE75-9BB4-30F41200163D}"/>
              </a:ext>
            </a:extLst>
          </p:cNvPr>
          <p:cNvSpPr>
            <a:spLocks noGrp="1"/>
          </p:cNvSpPr>
          <p:nvPr>
            <p:ph type="sldNum" sz="quarter" idx="12"/>
          </p:nvPr>
        </p:nvSpPr>
        <p:spPr/>
        <p:txBody>
          <a:bodyPr/>
          <a:lstStyle/>
          <a:p>
            <a:fld id="{029F8418-9D04-4A4B-AE55-03BBA6C4509D}" type="slidenum">
              <a:rPr lang="en-GB" smtClean="0"/>
              <a:t>‹#›</a:t>
            </a:fld>
            <a:endParaRPr lang="en-GB"/>
          </a:p>
        </p:txBody>
      </p:sp>
    </p:spTree>
    <p:extLst>
      <p:ext uri="{BB962C8B-B14F-4D97-AF65-F5344CB8AC3E}">
        <p14:creationId xmlns:p14="http://schemas.microsoft.com/office/powerpoint/2010/main" val="15603296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2253F5-302E-9140-8000-F8B23EBEEFAA}"/>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p>
        </p:txBody>
      </p:sp>
      <p:sp>
        <p:nvSpPr>
          <p:cNvPr id="3" name="Text Placeholder 2">
            <a:extLst>
              <a:ext uri="{FF2B5EF4-FFF2-40B4-BE49-F238E27FC236}">
                <a16:creationId xmlns:a16="http://schemas.microsoft.com/office/drawing/2014/main" id="{048894FD-23EA-FF28-7028-099A0122D73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A7B7F0F0-C838-D76D-B611-3015327B68A3}"/>
              </a:ext>
            </a:extLst>
          </p:cNvPr>
          <p:cNvSpPr>
            <a:spLocks noGrp="1"/>
          </p:cNvSpPr>
          <p:nvPr>
            <p:ph type="dt" sz="half" idx="10"/>
          </p:nvPr>
        </p:nvSpPr>
        <p:spPr/>
        <p:txBody>
          <a:bodyPr/>
          <a:lstStyle/>
          <a:p>
            <a:fld id="{D6DC6B3C-862F-4922-BBAC-0DA0B9373CD7}" type="datetimeFigureOut">
              <a:rPr lang="en-GB" smtClean="0"/>
              <a:t>06/04/2026</a:t>
            </a:fld>
            <a:endParaRPr lang="en-GB"/>
          </a:p>
        </p:txBody>
      </p:sp>
      <p:sp>
        <p:nvSpPr>
          <p:cNvPr id="5" name="Footer Placeholder 4">
            <a:extLst>
              <a:ext uri="{FF2B5EF4-FFF2-40B4-BE49-F238E27FC236}">
                <a16:creationId xmlns:a16="http://schemas.microsoft.com/office/drawing/2014/main" id="{5FEAA5F7-CB05-17D5-BF87-71820159EC78}"/>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EDBB6280-679B-099F-4503-25656C334F56}"/>
              </a:ext>
            </a:extLst>
          </p:cNvPr>
          <p:cNvSpPr>
            <a:spLocks noGrp="1"/>
          </p:cNvSpPr>
          <p:nvPr>
            <p:ph type="sldNum" sz="quarter" idx="12"/>
          </p:nvPr>
        </p:nvSpPr>
        <p:spPr/>
        <p:txBody>
          <a:bodyPr/>
          <a:lstStyle/>
          <a:p>
            <a:fld id="{029F8418-9D04-4A4B-AE55-03BBA6C4509D}" type="slidenum">
              <a:rPr lang="en-GB" smtClean="0"/>
              <a:t>‹#›</a:t>
            </a:fld>
            <a:endParaRPr lang="en-GB"/>
          </a:p>
        </p:txBody>
      </p:sp>
    </p:spTree>
    <p:extLst>
      <p:ext uri="{BB962C8B-B14F-4D97-AF65-F5344CB8AC3E}">
        <p14:creationId xmlns:p14="http://schemas.microsoft.com/office/powerpoint/2010/main" val="4040085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914B7C-C572-75B4-2038-FDD903FC1A6A}"/>
              </a:ext>
            </a:extLst>
          </p:cNvPr>
          <p:cNvSpPr>
            <a:spLocks noGrp="1"/>
          </p:cNvSpPr>
          <p:nvPr>
            <p:ph type="title"/>
          </p:nvPr>
        </p:nvSpPr>
        <p:spPr/>
        <p:txBody>
          <a:bodyPr/>
          <a:lstStyle/>
          <a:p>
            <a:r>
              <a:rPr lang="en-GB"/>
              <a:t>Click to edit Master title style</a:t>
            </a:r>
          </a:p>
        </p:txBody>
      </p:sp>
      <p:sp>
        <p:nvSpPr>
          <p:cNvPr id="3" name="Content Placeholder 2">
            <a:extLst>
              <a:ext uri="{FF2B5EF4-FFF2-40B4-BE49-F238E27FC236}">
                <a16:creationId xmlns:a16="http://schemas.microsoft.com/office/drawing/2014/main" id="{F83401A6-5AFA-1587-67D2-DCDADE129A8F}"/>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Content Placeholder 3">
            <a:extLst>
              <a:ext uri="{FF2B5EF4-FFF2-40B4-BE49-F238E27FC236}">
                <a16:creationId xmlns:a16="http://schemas.microsoft.com/office/drawing/2014/main" id="{6253BB20-F7DF-03A1-5B9A-2CF2A6D33E21}"/>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5" name="Date Placeholder 4">
            <a:extLst>
              <a:ext uri="{FF2B5EF4-FFF2-40B4-BE49-F238E27FC236}">
                <a16:creationId xmlns:a16="http://schemas.microsoft.com/office/drawing/2014/main" id="{A54DBCF1-238D-14C1-FFAE-100CD96441FA}"/>
              </a:ext>
            </a:extLst>
          </p:cNvPr>
          <p:cNvSpPr>
            <a:spLocks noGrp="1"/>
          </p:cNvSpPr>
          <p:nvPr>
            <p:ph type="dt" sz="half" idx="10"/>
          </p:nvPr>
        </p:nvSpPr>
        <p:spPr/>
        <p:txBody>
          <a:bodyPr/>
          <a:lstStyle/>
          <a:p>
            <a:fld id="{D6DC6B3C-862F-4922-BBAC-0DA0B9373CD7}" type="datetimeFigureOut">
              <a:rPr lang="en-GB" smtClean="0"/>
              <a:t>06/04/2026</a:t>
            </a:fld>
            <a:endParaRPr lang="en-GB"/>
          </a:p>
        </p:txBody>
      </p:sp>
      <p:sp>
        <p:nvSpPr>
          <p:cNvPr id="6" name="Footer Placeholder 5">
            <a:extLst>
              <a:ext uri="{FF2B5EF4-FFF2-40B4-BE49-F238E27FC236}">
                <a16:creationId xmlns:a16="http://schemas.microsoft.com/office/drawing/2014/main" id="{B7086B6F-9E8D-6803-9142-626A6D58CB07}"/>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7D7F6397-EA7F-A92B-D4E0-264DFE7724BF}"/>
              </a:ext>
            </a:extLst>
          </p:cNvPr>
          <p:cNvSpPr>
            <a:spLocks noGrp="1"/>
          </p:cNvSpPr>
          <p:nvPr>
            <p:ph type="sldNum" sz="quarter" idx="12"/>
          </p:nvPr>
        </p:nvSpPr>
        <p:spPr/>
        <p:txBody>
          <a:bodyPr/>
          <a:lstStyle/>
          <a:p>
            <a:fld id="{029F8418-9D04-4A4B-AE55-03BBA6C4509D}" type="slidenum">
              <a:rPr lang="en-GB" smtClean="0"/>
              <a:t>‹#›</a:t>
            </a:fld>
            <a:endParaRPr lang="en-GB"/>
          </a:p>
        </p:txBody>
      </p:sp>
    </p:spTree>
    <p:extLst>
      <p:ext uri="{BB962C8B-B14F-4D97-AF65-F5344CB8AC3E}">
        <p14:creationId xmlns:p14="http://schemas.microsoft.com/office/powerpoint/2010/main" val="31478379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803EB6-A6DE-5B92-23CB-AF555C0992CB}"/>
              </a:ext>
            </a:extLst>
          </p:cNvPr>
          <p:cNvSpPr>
            <a:spLocks noGrp="1"/>
          </p:cNvSpPr>
          <p:nvPr>
            <p:ph type="title"/>
          </p:nvPr>
        </p:nvSpPr>
        <p:spPr>
          <a:xfrm>
            <a:off x="839788" y="365125"/>
            <a:ext cx="10515600" cy="1325563"/>
          </a:xfrm>
        </p:spPr>
        <p:txBody>
          <a:bodyPr/>
          <a:lstStyle/>
          <a:p>
            <a:r>
              <a:rPr lang="en-GB"/>
              <a:t>Click to edit Master title style</a:t>
            </a:r>
          </a:p>
        </p:txBody>
      </p:sp>
      <p:sp>
        <p:nvSpPr>
          <p:cNvPr id="3" name="Text Placeholder 2">
            <a:extLst>
              <a:ext uri="{FF2B5EF4-FFF2-40B4-BE49-F238E27FC236}">
                <a16:creationId xmlns:a16="http://schemas.microsoft.com/office/drawing/2014/main" id="{83166B25-629B-EE0D-E93C-9A4F80107E5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8256557E-96F5-1BE1-9330-67D2DA729EAB}"/>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5" name="Text Placeholder 4">
            <a:extLst>
              <a:ext uri="{FF2B5EF4-FFF2-40B4-BE49-F238E27FC236}">
                <a16:creationId xmlns:a16="http://schemas.microsoft.com/office/drawing/2014/main" id="{423855D2-6E17-F12B-9B82-60DC3AAB6F9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24055E0E-AC34-9010-5A0B-6DE718A9396D}"/>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7" name="Date Placeholder 6">
            <a:extLst>
              <a:ext uri="{FF2B5EF4-FFF2-40B4-BE49-F238E27FC236}">
                <a16:creationId xmlns:a16="http://schemas.microsoft.com/office/drawing/2014/main" id="{ACBA9B31-933E-8A1E-2E5C-1B1CC55B63ED}"/>
              </a:ext>
            </a:extLst>
          </p:cNvPr>
          <p:cNvSpPr>
            <a:spLocks noGrp="1"/>
          </p:cNvSpPr>
          <p:nvPr>
            <p:ph type="dt" sz="half" idx="10"/>
          </p:nvPr>
        </p:nvSpPr>
        <p:spPr/>
        <p:txBody>
          <a:bodyPr/>
          <a:lstStyle/>
          <a:p>
            <a:fld id="{D6DC6B3C-862F-4922-BBAC-0DA0B9373CD7}" type="datetimeFigureOut">
              <a:rPr lang="en-GB" smtClean="0"/>
              <a:t>06/04/2026</a:t>
            </a:fld>
            <a:endParaRPr lang="en-GB"/>
          </a:p>
        </p:txBody>
      </p:sp>
      <p:sp>
        <p:nvSpPr>
          <p:cNvPr id="8" name="Footer Placeholder 7">
            <a:extLst>
              <a:ext uri="{FF2B5EF4-FFF2-40B4-BE49-F238E27FC236}">
                <a16:creationId xmlns:a16="http://schemas.microsoft.com/office/drawing/2014/main" id="{FB35BC27-0960-7209-51E0-F6B3678AB6AF}"/>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0BBD8BD0-88DA-3A34-8E79-9C6730A142F7}"/>
              </a:ext>
            </a:extLst>
          </p:cNvPr>
          <p:cNvSpPr>
            <a:spLocks noGrp="1"/>
          </p:cNvSpPr>
          <p:nvPr>
            <p:ph type="sldNum" sz="quarter" idx="12"/>
          </p:nvPr>
        </p:nvSpPr>
        <p:spPr/>
        <p:txBody>
          <a:bodyPr/>
          <a:lstStyle/>
          <a:p>
            <a:fld id="{029F8418-9D04-4A4B-AE55-03BBA6C4509D}" type="slidenum">
              <a:rPr lang="en-GB" smtClean="0"/>
              <a:t>‹#›</a:t>
            </a:fld>
            <a:endParaRPr lang="en-GB"/>
          </a:p>
        </p:txBody>
      </p:sp>
    </p:spTree>
    <p:extLst>
      <p:ext uri="{BB962C8B-B14F-4D97-AF65-F5344CB8AC3E}">
        <p14:creationId xmlns:p14="http://schemas.microsoft.com/office/powerpoint/2010/main" val="359478776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376095-0B23-78CB-4D9F-943B1AD876E5}"/>
              </a:ext>
            </a:extLst>
          </p:cNvPr>
          <p:cNvSpPr>
            <a:spLocks noGrp="1"/>
          </p:cNvSpPr>
          <p:nvPr>
            <p:ph type="title"/>
          </p:nvPr>
        </p:nvSpPr>
        <p:spPr/>
        <p:txBody>
          <a:bodyPr/>
          <a:lstStyle/>
          <a:p>
            <a:r>
              <a:rPr lang="en-GB"/>
              <a:t>Click to edit Master title style</a:t>
            </a:r>
          </a:p>
        </p:txBody>
      </p:sp>
      <p:sp>
        <p:nvSpPr>
          <p:cNvPr id="3" name="Date Placeholder 2">
            <a:extLst>
              <a:ext uri="{FF2B5EF4-FFF2-40B4-BE49-F238E27FC236}">
                <a16:creationId xmlns:a16="http://schemas.microsoft.com/office/drawing/2014/main" id="{966902A5-667E-2415-8914-688EB0C938AE}"/>
              </a:ext>
            </a:extLst>
          </p:cNvPr>
          <p:cNvSpPr>
            <a:spLocks noGrp="1"/>
          </p:cNvSpPr>
          <p:nvPr>
            <p:ph type="dt" sz="half" idx="10"/>
          </p:nvPr>
        </p:nvSpPr>
        <p:spPr/>
        <p:txBody>
          <a:bodyPr/>
          <a:lstStyle/>
          <a:p>
            <a:fld id="{D6DC6B3C-862F-4922-BBAC-0DA0B9373CD7}" type="datetimeFigureOut">
              <a:rPr lang="en-GB" smtClean="0"/>
              <a:t>06/04/2026</a:t>
            </a:fld>
            <a:endParaRPr lang="en-GB"/>
          </a:p>
        </p:txBody>
      </p:sp>
      <p:sp>
        <p:nvSpPr>
          <p:cNvPr id="4" name="Footer Placeholder 3">
            <a:extLst>
              <a:ext uri="{FF2B5EF4-FFF2-40B4-BE49-F238E27FC236}">
                <a16:creationId xmlns:a16="http://schemas.microsoft.com/office/drawing/2014/main" id="{398278F1-64A0-5520-BAA1-A9503B84FE2C}"/>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9C711237-105F-8FE6-80ED-CF1E2724F0E2}"/>
              </a:ext>
            </a:extLst>
          </p:cNvPr>
          <p:cNvSpPr>
            <a:spLocks noGrp="1"/>
          </p:cNvSpPr>
          <p:nvPr>
            <p:ph type="sldNum" sz="quarter" idx="12"/>
          </p:nvPr>
        </p:nvSpPr>
        <p:spPr/>
        <p:txBody>
          <a:bodyPr/>
          <a:lstStyle/>
          <a:p>
            <a:fld id="{029F8418-9D04-4A4B-AE55-03BBA6C4509D}" type="slidenum">
              <a:rPr lang="en-GB" smtClean="0"/>
              <a:t>‹#›</a:t>
            </a:fld>
            <a:endParaRPr lang="en-GB"/>
          </a:p>
        </p:txBody>
      </p:sp>
    </p:spTree>
    <p:extLst>
      <p:ext uri="{BB962C8B-B14F-4D97-AF65-F5344CB8AC3E}">
        <p14:creationId xmlns:p14="http://schemas.microsoft.com/office/powerpoint/2010/main" val="11387234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F3FE9EB-D943-C54B-1DA4-27F22BE37945}"/>
              </a:ext>
            </a:extLst>
          </p:cNvPr>
          <p:cNvSpPr>
            <a:spLocks noGrp="1"/>
          </p:cNvSpPr>
          <p:nvPr>
            <p:ph type="dt" sz="half" idx="10"/>
          </p:nvPr>
        </p:nvSpPr>
        <p:spPr/>
        <p:txBody>
          <a:bodyPr/>
          <a:lstStyle/>
          <a:p>
            <a:fld id="{D6DC6B3C-862F-4922-BBAC-0DA0B9373CD7}" type="datetimeFigureOut">
              <a:rPr lang="en-GB" smtClean="0"/>
              <a:t>06/04/2026</a:t>
            </a:fld>
            <a:endParaRPr lang="en-GB"/>
          </a:p>
        </p:txBody>
      </p:sp>
      <p:sp>
        <p:nvSpPr>
          <p:cNvPr id="3" name="Footer Placeholder 2">
            <a:extLst>
              <a:ext uri="{FF2B5EF4-FFF2-40B4-BE49-F238E27FC236}">
                <a16:creationId xmlns:a16="http://schemas.microsoft.com/office/drawing/2014/main" id="{15311841-7AA8-DCB9-245A-30A68CF5A92F}"/>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1FEB0BEB-23AB-10C7-A020-ED61728A9A24}"/>
              </a:ext>
            </a:extLst>
          </p:cNvPr>
          <p:cNvSpPr>
            <a:spLocks noGrp="1"/>
          </p:cNvSpPr>
          <p:nvPr>
            <p:ph type="sldNum" sz="quarter" idx="12"/>
          </p:nvPr>
        </p:nvSpPr>
        <p:spPr/>
        <p:txBody>
          <a:bodyPr/>
          <a:lstStyle/>
          <a:p>
            <a:fld id="{029F8418-9D04-4A4B-AE55-03BBA6C4509D}" type="slidenum">
              <a:rPr lang="en-GB" smtClean="0"/>
              <a:t>‹#›</a:t>
            </a:fld>
            <a:endParaRPr lang="en-GB"/>
          </a:p>
        </p:txBody>
      </p:sp>
    </p:spTree>
    <p:extLst>
      <p:ext uri="{BB962C8B-B14F-4D97-AF65-F5344CB8AC3E}">
        <p14:creationId xmlns:p14="http://schemas.microsoft.com/office/powerpoint/2010/main" val="37382140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3D6389-1369-C26C-AD7A-E31241B2610D}"/>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p>
        </p:txBody>
      </p:sp>
      <p:sp>
        <p:nvSpPr>
          <p:cNvPr id="3" name="Content Placeholder 2">
            <a:extLst>
              <a:ext uri="{FF2B5EF4-FFF2-40B4-BE49-F238E27FC236}">
                <a16:creationId xmlns:a16="http://schemas.microsoft.com/office/drawing/2014/main" id="{022029C4-BFEA-C2D0-B213-93DB81B6C2E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Text Placeholder 3">
            <a:extLst>
              <a:ext uri="{FF2B5EF4-FFF2-40B4-BE49-F238E27FC236}">
                <a16:creationId xmlns:a16="http://schemas.microsoft.com/office/drawing/2014/main" id="{7A6F9A41-6819-8411-079E-0A108661FF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DEF31AB7-0974-8D46-C27C-4EE7D0EC4946}"/>
              </a:ext>
            </a:extLst>
          </p:cNvPr>
          <p:cNvSpPr>
            <a:spLocks noGrp="1"/>
          </p:cNvSpPr>
          <p:nvPr>
            <p:ph type="dt" sz="half" idx="10"/>
          </p:nvPr>
        </p:nvSpPr>
        <p:spPr/>
        <p:txBody>
          <a:bodyPr/>
          <a:lstStyle/>
          <a:p>
            <a:fld id="{D6DC6B3C-862F-4922-BBAC-0DA0B9373CD7}" type="datetimeFigureOut">
              <a:rPr lang="en-GB" smtClean="0"/>
              <a:t>06/04/2026</a:t>
            </a:fld>
            <a:endParaRPr lang="en-GB"/>
          </a:p>
        </p:txBody>
      </p:sp>
      <p:sp>
        <p:nvSpPr>
          <p:cNvPr id="6" name="Footer Placeholder 5">
            <a:extLst>
              <a:ext uri="{FF2B5EF4-FFF2-40B4-BE49-F238E27FC236}">
                <a16:creationId xmlns:a16="http://schemas.microsoft.com/office/drawing/2014/main" id="{D423E629-036E-1A0A-4594-CBCCC6618EC8}"/>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979BF9FD-A341-AB07-BB10-2D9A41416931}"/>
              </a:ext>
            </a:extLst>
          </p:cNvPr>
          <p:cNvSpPr>
            <a:spLocks noGrp="1"/>
          </p:cNvSpPr>
          <p:nvPr>
            <p:ph type="sldNum" sz="quarter" idx="12"/>
          </p:nvPr>
        </p:nvSpPr>
        <p:spPr/>
        <p:txBody>
          <a:bodyPr/>
          <a:lstStyle/>
          <a:p>
            <a:fld id="{029F8418-9D04-4A4B-AE55-03BBA6C4509D}" type="slidenum">
              <a:rPr lang="en-GB" smtClean="0"/>
              <a:t>‹#›</a:t>
            </a:fld>
            <a:endParaRPr lang="en-GB"/>
          </a:p>
        </p:txBody>
      </p:sp>
    </p:spTree>
    <p:extLst>
      <p:ext uri="{BB962C8B-B14F-4D97-AF65-F5344CB8AC3E}">
        <p14:creationId xmlns:p14="http://schemas.microsoft.com/office/powerpoint/2010/main" val="216020729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7FAB41-BC4E-ED08-CEC6-A30E3D1E8E1D}"/>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p>
        </p:txBody>
      </p:sp>
      <p:sp>
        <p:nvSpPr>
          <p:cNvPr id="3" name="Picture Placeholder 2">
            <a:extLst>
              <a:ext uri="{FF2B5EF4-FFF2-40B4-BE49-F238E27FC236}">
                <a16:creationId xmlns:a16="http://schemas.microsoft.com/office/drawing/2014/main" id="{1A27E56B-B4B7-5214-6DF3-12D217DB34D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4191E742-7207-DE1C-4636-24B9C9C368E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EE196A3B-7568-BABA-0A08-1D1E3E5A304C}"/>
              </a:ext>
            </a:extLst>
          </p:cNvPr>
          <p:cNvSpPr>
            <a:spLocks noGrp="1"/>
          </p:cNvSpPr>
          <p:nvPr>
            <p:ph type="dt" sz="half" idx="10"/>
          </p:nvPr>
        </p:nvSpPr>
        <p:spPr/>
        <p:txBody>
          <a:bodyPr/>
          <a:lstStyle/>
          <a:p>
            <a:fld id="{D6DC6B3C-862F-4922-BBAC-0DA0B9373CD7}" type="datetimeFigureOut">
              <a:rPr lang="en-GB" smtClean="0"/>
              <a:t>06/04/2026</a:t>
            </a:fld>
            <a:endParaRPr lang="en-GB"/>
          </a:p>
        </p:txBody>
      </p:sp>
      <p:sp>
        <p:nvSpPr>
          <p:cNvPr id="6" name="Footer Placeholder 5">
            <a:extLst>
              <a:ext uri="{FF2B5EF4-FFF2-40B4-BE49-F238E27FC236}">
                <a16:creationId xmlns:a16="http://schemas.microsoft.com/office/drawing/2014/main" id="{363A9A75-6EE8-3753-1348-466B7CADE498}"/>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4154E241-40CD-A0A8-CD5E-6CEB700CE7F1}"/>
              </a:ext>
            </a:extLst>
          </p:cNvPr>
          <p:cNvSpPr>
            <a:spLocks noGrp="1"/>
          </p:cNvSpPr>
          <p:nvPr>
            <p:ph type="sldNum" sz="quarter" idx="12"/>
          </p:nvPr>
        </p:nvSpPr>
        <p:spPr/>
        <p:txBody>
          <a:bodyPr/>
          <a:lstStyle/>
          <a:p>
            <a:fld id="{029F8418-9D04-4A4B-AE55-03BBA6C4509D}" type="slidenum">
              <a:rPr lang="en-GB" smtClean="0"/>
              <a:t>‹#›</a:t>
            </a:fld>
            <a:endParaRPr lang="en-GB"/>
          </a:p>
        </p:txBody>
      </p:sp>
    </p:spTree>
    <p:extLst>
      <p:ext uri="{BB962C8B-B14F-4D97-AF65-F5344CB8AC3E}">
        <p14:creationId xmlns:p14="http://schemas.microsoft.com/office/powerpoint/2010/main" val="335087589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3AC495-2EE7-7EEC-3441-E8572B0C7C15}"/>
              </a:ext>
            </a:extLst>
          </p:cNvPr>
          <p:cNvSpPr>
            <a:spLocks noGrp="1"/>
          </p:cNvSpPr>
          <p:nvPr>
            <p:ph type="title"/>
          </p:nvPr>
        </p:nvSpPr>
        <p:spPr/>
        <p:txBody>
          <a:bodyPr/>
          <a:lstStyle/>
          <a:p>
            <a:r>
              <a:rPr lang="en-GB"/>
              <a:t>Click to edit Master title style</a:t>
            </a:r>
          </a:p>
        </p:txBody>
      </p:sp>
      <p:sp>
        <p:nvSpPr>
          <p:cNvPr id="3" name="Vertical Text Placeholder 2">
            <a:extLst>
              <a:ext uri="{FF2B5EF4-FFF2-40B4-BE49-F238E27FC236}">
                <a16:creationId xmlns:a16="http://schemas.microsoft.com/office/drawing/2014/main" id="{7C31D5D4-93FD-BDEE-00B1-4379A6035397}"/>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FE327E0C-8EF4-73A3-5F9D-DE0435681FB8}"/>
              </a:ext>
            </a:extLst>
          </p:cNvPr>
          <p:cNvSpPr>
            <a:spLocks noGrp="1"/>
          </p:cNvSpPr>
          <p:nvPr>
            <p:ph type="dt" sz="half" idx="10"/>
          </p:nvPr>
        </p:nvSpPr>
        <p:spPr/>
        <p:txBody>
          <a:bodyPr/>
          <a:lstStyle/>
          <a:p>
            <a:fld id="{D6DC6B3C-862F-4922-BBAC-0DA0B9373CD7}" type="datetimeFigureOut">
              <a:rPr lang="en-GB" smtClean="0"/>
              <a:t>06/04/2026</a:t>
            </a:fld>
            <a:endParaRPr lang="en-GB"/>
          </a:p>
        </p:txBody>
      </p:sp>
      <p:sp>
        <p:nvSpPr>
          <p:cNvPr id="5" name="Footer Placeholder 4">
            <a:extLst>
              <a:ext uri="{FF2B5EF4-FFF2-40B4-BE49-F238E27FC236}">
                <a16:creationId xmlns:a16="http://schemas.microsoft.com/office/drawing/2014/main" id="{178A73F9-FEAA-0772-9E33-4DBAFF664EA3}"/>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783FF6AF-DC50-BCC8-366F-0C098BDB5113}"/>
              </a:ext>
            </a:extLst>
          </p:cNvPr>
          <p:cNvSpPr>
            <a:spLocks noGrp="1"/>
          </p:cNvSpPr>
          <p:nvPr>
            <p:ph type="sldNum" sz="quarter" idx="12"/>
          </p:nvPr>
        </p:nvSpPr>
        <p:spPr/>
        <p:txBody>
          <a:bodyPr/>
          <a:lstStyle/>
          <a:p>
            <a:fld id="{029F8418-9D04-4A4B-AE55-03BBA6C4509D}" type="slidenum">
              <a:rPr lang="en-GB" smtClean="0"/>
              <a:t>‹#›</a:t>
            </a:fld>
            <a:endParaRPr lang="en-GB"/>
          </a:p>
        </p:txBody>
      </p:sp>
    </p:spTree>
    <p:extLst>
      <p:ext uri="{BB962C8B-B14F-4D97-AF65-F5344CB8AC3E}">
        <p14:creationId xmlns:p14="http://schemas.microsoft.com/office/powerpoint/2010/main" val="40037046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156D451-2CD7-AB1C-44FC-5D9AA2A69D39}"/>
              </a:ext>
            </a:extLst>
          </p:cNvPr>
          <p:cNvSpPr>
            <a:spLocks noGrp="1"/>
          </p:cNvSpPr>
          <p:nvPr>
            <p:ph type="title" orient="vert"/>
          </p:nvPr>
        </p:nvSpPr>
        <p:spPr>
          <a:xfrm>
            <a:off x="8724900" y="365125"/>
            <a:ext cx="2628900" cy="5811838"/>
          </a:xfrm>
        </p:spPr>
        <p:txBody>
          <a:bodyPr vert="eaVert"/>
          <a:lstStyle/>
          <a:p>
            <a:r>
              <a:rPr lang="en-GB"/>
              <a:t>Click to edit Master title style</a:t>
            </a:r>
          </a:p>
        </p:txBody>
      </p:sp>
      <p:sp>
        <p:nvSpPr>
          <p:cNvPr id="3" name="Vertical Text Placeholder 2">
            <a:extLst>
              <a:ext uri="{FF2B5EF4-FFF2-40B4-BE49-F238E27FC236}">
                <a16:creationId xmlns:a16="http://schemas.microsoft.com/office/drawing/2014/main" id="{94EC4B22-8344-BD74-BBF2-3F03D1F49FAA}"/>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C026ADC5-62AC-5E4A-8664-00AEA8DE4D55}"/>
              </a:ext>
            </a:extLst>
          </p:cNvPr>
          <p:cNvSpPr>
            <a:spLocks noGrp="1"/>
          </p:cNvSpPr>
          <p:nvPr>
            <p:ph type="dt" sz="half" idx="10"/>
          </p:nvPr>
        </p:nvSpPr>
        <p:spPr/>
        <p:txBody>
          <a:bodyPr/>
          <a:lstStyle/>
          <a:p>
            <a:fld id="{D6DC6B3C-862F-4922-BBAC-0DA0B9373CD7}" type="datetimeFigureOut">
              <a:rPr lang="en-GB" smtClean="0"/>
              <a:t>06/04/2026</a:t>
            </a:fld>
            <a:endParaRPr lang="en-GB"/>
          </a:p>
        </p:txBody>
      </p:sp>
      <p:sp>
        <p:nvSpPr>
          <p:cNvPr id="5" name="Footer Placeholder 4">
            <a:extLst>
              <a:ext uri="{FF2B5EF4-FFF2-40B4-BE49-F238E27FC236}">
                <a16:creationId xmlns:a16="http://schemas.microsoft.com/office/drawing/2014/main" id="{89AC2937-8582-8371-86F9-C5BD6C256CBC}"/>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13AF6D9C-882F-058A-9BB0-AB8D74D3624C}"/>
              </a:ext>
            </a:extLst>
          </p:cNvPr>
          <p:cNvSpPr>
            <a:spLocks noGrp="1"/>
          </p:cNvSpPr>
          <p:nvPr>
            <p:ph type="sldNum" sz="quarter" idx="12"/>
          </p:nvPr>
        </p:nvSpPr>
        <p:spPr/>
        <p:txBody>
          <a:bodyPr/>
          <a:lstStyle/>
          <a:p>
            <a:fld id="{029F8418-9D04-4A4B-AE55-03BBA6C4509D}" type="slidenum">
              <a:rPr lang="en-GB" smtClean="0"/>
              <a:t>‹#›</a:t>
            </a:fld>
            <a:endParaRPr lang="en-GB"/>
          </a:p>
        </p:txBody>
      </p:sp>
    </p:spTree>
    <p:extLst>
      <p:ext uri="{BB962C8B-B14F-4D97-AF65-F5344CB8AC3E}">
        <p14:creationId xmlns:p14="http://schemas.microsoft.com/office/powerpoint/2010/main" val="253916902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7A81577-538A-1877-EB8A-0C87240B8FC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p>
        </p:txBody>
      </p:sp>
      <p:sp>
        <p:nvSpPr>
          <p:cNvPr id="3" name="Text Placeholder 2">
            <a:extLst>
              <a:ext uri="{FF2B5EF4-FFF2-40B4-BE49-F238E27FC236}">
                <a16:creationId xmlns:a16="http://schemas.microsoft.com/office/drawing/2014/main" id="{A97DCA51-9189-AF66-32AC-01B179DBA3C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D77D3935-7975-12E6-D12E-EB8AAF8B466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6DC6B3C-862F-4922-BBAC-0DA0B9373CD7}" type="datetimeFigureOut">
              <a:rPr lang="en-GB" smtClean="0"/>
              <a:t>06/04/2026</a:t>
            </a:fld>
            <a:endParaRPr lang="en-GB"/>
          </a:p>
        </p:txBody>
      </p:sp>
      <p:sp>
        <p:nvSpPr>
          <p:cNvPr id="5" name="Footer Placeholder 4">
            <a:extLst>
              <a:ext uri="{FF2B5EF4-FFF2-40B4-BE49-F238E27FC236}">
                <a16:creationId xmlns:a16="http://schemas.microsoft.com/office/drawing/2014/main" id="{36BCCDEE-FD5D-2857-F74A-E176A7D0C95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C0F85DA2-21E7-9B04-8016-F7A4BC6D932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29F8418-9D04-4A4B-AE55-03BBA6C4509D}" type="slidenum">
              <a:rPr lang="en-GB" smtClean="0"/>
              <a:t>‹#›</a:t>
            </a:fld>
            <a:endParaRPr lang="en-GB"/>
          </a:p>
        </p:txBody>
      </p:sp>
    </p:spTree>
    <p:extLst>
      <p:ext uri="{BB962C8B-B14F-4D97-AF65-F5344CB8AC3E}">
        <p14:creationId xmlns:p14="http://schemas.microsoft.com/office/powerpoint/2010/main" val="35343839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5.svg"/></Relationships>
</file>

<file path=ppt/slides/_rels/slide1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CFF46B-E34C-103E-A692-C036CED564CF}"/>
              </a:ext>
            </a:extLst>
          </p:cNvPr>
          <p:cNvSpPr>
            <a:spLocks noGrp="1"/>
          </p:cNvSpPr>
          <p:nvPr>
            <p:ph type="ctrTitle"/>
          </p:nvPr>
        </p:nvSpPr>
        <p:spPr>
          <a:xfrm>
            <a:off x="1524000" y="0"/>
            <a:ext cx="9144000" cy="2387600"/>
          </a:xfrm>
        </p:spPr>
        <p:txBody>
          <a:bodyPr>
            <a:normAutofit fontScale="90000"/>
          </a:bodyPr>
          <a:lstStyle/>
          <a:p>
            <a:r>
              <a:rPr lang="en-GB" dirty="0"/>
              <a:t>A Comparison of Voronoi Fracturing in Vulkan and OpenGL</a:t>
            </a:r>
          </a:p>
        </p:txBody>
      </p:sp>
      <p:sp>
        <p:nvSpPr>
          <p:cNvPr id="3" name="Subtitle 2">
            <a:extLst>
              <a:ext uri="{FF2B5EF4-FFF2-40B4-BE49-F238E27FC236}">
                <a16:creationId xmlns:a16="http://schemas.microsoft.com/office/drawing/2014/main" id="{C8E91F84-1892-FA7B-35A8-301E383F6C01}"/>
              </a:ext>
            </a:extLst>
          </p:cNvPr>
          <p:cNvSpPr>
            <a:spLocks noGrp="1"/>
          </p:cNvSpPr>
          <p:nvPr>
            <p:ph type="subTitle" idx="1"/>
          </p:nvPr>
        </p:nvSpPr>
        <p:spPr>
          <a:xfrm>
            <a:off x="1594100" y="2814639"/>
            <a:ext cx="9144000" cy="1655762"/>
          </a:xfrm>
        </p:spPr>
        <p:txBody>
          <a:bodyPr/>
          <a:lstStyle/>
          <a:p>
            <a:r>
              <a:rPr lang="en-GB" dirty="0"/>
              <a:t>By Samuel Lloyd</a:t>
            </a:r>
          </a:p>
        </p:txBody>
      </p:sp>
    </p:spTree>
    <p:extLst>
      <p:ext uri="{BB962C8B-B14F-4D97-AF65-F5344CB8AC3E}">
        <p14:creationId xmlns:p14="http://schemas.microsoft.com/office/powerpoint/2010/main" val="122678158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0EBECC-995C-6C89-2BCE-F738A0468C3E}"/>
              </a:ext>
            </a:extLst>
          </p:cNvPr>
          <p:cNvSpPr>
            <a:spLocks noGrp="1"/>
          </p:cNvSpPr>
          <p:nvPr>
            <p:ph type="title"/>
          </p:nvPr>
        </p:nvSpPr>
        <p:spPr/>
        <p:txBody>
          <a:bodyPr/>
          <a:lstStyle/>
          <a:p>
            <a:r>
              <a:rPr lang="en-GB" dirty="0"/>
              <a:t>Context</a:t>
            </a:r>
          </a:p>
        </p:txBody>
      </p:sp>
      <p:sp>
        <p:nvSpPr>
          <p:cNvPr id="3" name="Content Placeholder 2">
            <a:extLst>
              <a:ext uri="{FF2B5EF4-FFF2-40B4-BE49-F238E27FC236}">
                <a16:creationId xmlns:a16="http://schemas.microsoft.com/office/drawing/2014/main" id="{8076DC35-2C0D-E1CF-8C48-711B2E1345FC}"/>
              </a:ext>
            </a:extLst>
          </p:cNvPr>
          <p:cNvSpPr>
            <a:spLocks noGrp="1"/>
          </p:cNvSpPr>
          <p:nvPr>
            <p:ph idx="1"/>
          </p:nvPr>
        </p:nvSpPr>
        <p:spPr>
          <a:xfrm>
            <a:off x="960748" y="1354285"/>
            <a:ext cx="10515600" cy="4351338"/>
          </a:xfrm>
        </p:spPr>
        <p:txBody>
          <a:bodyPr>
            <a:normAutofit lnSpcReduction="10000"/>
          </a:bodyPr>
          <a:lstStyle/>
          <a:p>
            <a:pPr marL="0" indent="0">
              <a:buNone/>
            </a:pPr>
            <a:r>
              <a:rPr lang="en-GB" dirty="0"/>
              <a:t>As destruction effects in virtual entertainment have grown in usage, complexity, and scale, the need for performance has grown in tandem</a:t>
            </a:r>
            <a:br>
              <a:rPr lang="en-GB" dirty="0"/>
            </a:br>
            <a:br>
              <a:rPr lang="en-GB" dirty="0"/>
            </a:br>
            <a:r>
              <a:rPr lang="en-GB" dirty="0"/>
              <a:t>A commonly used algorithm for destruction is Voronoi fracturing, where a mesh is sliced against a generated Voronoi diagram.</a:t>
            </a:r>
          </a:p>
          <a:p>
            <a:pPr marL="0" indent="0">
              <a:buNone/>
            </a:pPr>
            <a:endParaRPr lang="en-GB" dirty="0"/>
          </a:p>
          <a:p>
            <a:pPr marL="0" indent="0">
              <a:buNone/>
            </a:pPr>
            <a:r>
              <a:rPr lang="en-GB" dirty="0"/>
              <a:t>Voronoi is a well research algorithm, that has already been well optimised. However, there is a constant demand for performance in applications such as game engines where Voronoi is commonly implemented. </a:t>
            </a:r>
          </a:p>
        </p:txBody>
      </p:sp>
    </p:spTree>
    <p:extLst>
      <p:ext uri="{BB962C8B-B14F-4D97-AF65-F5344CB8AC3E}">
        <p14:creationId xmlns:p14="http://schemas.microsoft.com/office/powerpoint/2010/main" val="358662131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1B227D-F6F9-C6F1-3346-AE0AB93A6C4C}"/>
              </a:ext>
            </a:extLst>
          </p:cNvPr>
          <p:cNvSpPr>
            <a:spLocks noGrp="1"/>
          </p:cNvSpPr>
          <p:nvPr>
            <p:ph type="title"/>
          </p:nvPr>
        </p:nvSpPr>
        <p:spPr/>
        <p:txBody>
          <a:bodyPr/>
          <a:lstStyle/>
          <a:p>
            <a:r>
              <a:rPr lang="en-GB" dirty="0"/>
              <a:t>Context</a:t>
            </a:r>
          </a:p>
        </p:txBody>
      </p:sp>
      <p:sp>
        <p:nvSpPr>
          <p:cNvPr id="3" name="Content Placeholder 2">
            <a:extLst>
              <a:ext uri="{FF2B5EF4-FFF2-40B4-BE49-F238E27FC236}">
                <a16:creationId xmlns:a16="http://schemas.microsoft.com/office/drawing/2014/main" id="{6E607FA3-A5DD-4C2A-58C8-74DC7097FD8D}"/>
              </a:ext>
            </a:extLst>
          </p:cNvPr>
          <p:cNvSpPr>
            <a:spLocks noGrp="1"/>
          </p:cNvSpPr>
          <p:nvPr>
            <p:ph idx="1"/>
          </p:nvPr>
        </p:nvSpPr>
        <p:spPr/>
        <p:txBody>
          <a:bodyPr/>
          <a:lstStyle/>
          <a:p>
            <a:pPr marL="0" indent="0">
              <a:buNone/>
            </a:pPr>
            <a:r>
              <a:rPr lang="en-GB" dirty="0"/>
              <a:t> </a:t>
            </a:r>
          </a:p>
          <a:p>
            <a:pPr marL="0" indent="0">
              <a:buNone/>
            </a:pPr>
            <a:r>
              <a:rPr lang="en-GB" dirty="0"/>
              <a:t>There is a lack of research on the graphical API that best suites Voronoi, such as OpenGL or Vulkan.</a:t>
            </a:r>
          </a:p>
          <a:p>
            <a:pPr marL="0" indent="0">
              <a:buNone/>
            </a:pPr>
            <a:r>
              <a:rPr lang="en-GB" dirty="0"/>
              <a:t>Graphics APIs can differ in the performance they offer, due to differing levels of control, and what GPU architecture they were designed for.</a:t>
            </a:r>
          </a:p>
          <a:p>
            <a:pPr marL="0" indent="0">
              <a:buNone/>
            </a:pPr>
            <a:r>
              <a:rPr lang="en-GB" dirty="0"/>
              <a:t>As a result of this, choosing the right graphical API can offer significant performance gains. </a:t>
            </a:r>
          </a:p>
        </p:txBody>
      </p:sp>
    </p:spTree>
    <p:extLst>
      <p:ext uri="{BB962C8B-B14F-4D97-AF65-F5344CB8AC3E}">
        <p14:creationId xmlns:p14="http://schemas.microsoft.com/office/powerpoint/2010/main" val="41452374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EB4250-1881-3203-9830-1C4E835DCC14}"/>
              </a:ext>
            </a:extLst>
          </p:cNvPr>
          <p:cNvSpPr>
            <a:spLocks noGrp="1"/>
          </p:cNvSpPr>
          <p:nvPr>
            <p:ph type="title"/>
          </p:nvPr>
        </p:nvSpPr>
        <p:spPr/>
        <p:txBody>
          <a:bodyPr/>
          <a:lstStyle/>
          <a:p>
            <a:r>
              <a:rPr lang="en-GB" dirty="0"/>
              <a:t>Justification</a:t>
            </a:r>
          </a:p>
        </p:txBody>
      </p:sp>
      <p:sp>
        <p:nvSpPr>
          <p:cNvPr id="3" name="Content Placeholder 2">
            <a:extLst>
              <a:ext uri="{FF2B5EF4-FFF2-40B4-BE49-F238E27FC236}">
                <a16:creationId xmlns:a16="http://schemas.microsoft.com/office/drawing/2014/main" id="{68240AEF-57DC-AC70-0EFD-EB7B99FB8B6F}"/>
              </a:ext>
            </a:extLst>
          </p:cNvPr>
          <p:cNvSpPr>
            <a:spLocks noGrp="1"/>
          </p:cNvSpPr>
          <p:nvPr>
            <p:ph idx="1"/>
          </p:nvPr>
        </p:nvSpPr>
        <p:spPr/>
        <p:txBody>
          <a:bodyPr/>
          <a:lstStyle/>
          <a:p>
            <a:pPr marL="0" indent="0">
              <a:buNone/>
            </a:pPr>
            <a:r>
              <a:rPr lang="en-GB" dirty="0"/>
              <a:t>Optimising Voronoi for the correct Graphical API will offer clearer insight into the correct API to use when building an application that involves Voronoi. </a:t>
            </a:r>
          </a:p>
          <a:p>
            <a:pPr marL="0" indent="0">
              <a:buNone/>
            </a:pPr>
            <a:r>
              <a:rPr lang="en-GB" dirty="0"/>
              <a:t>This could benefit those with lower end hardware, as it could potentially lower the hardware barrier of applications that utilise Voronoi if they are more performant, and benefit the education sector when teaching about which API has more modern relevance.</a:t>
            </a:r>
          </a:p>
        </p:txBody>
      </p:sp>
    </p:spTree>
    <p:extLst>
      <p:ext uri="{BB962C8B-B14F-4D97-AF65-F5344CB8AC3E}">
        <p14:creationId xmlns:p14="http://schemas.microsoft.com/office/powerpoint/2010/main" val="12674645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CB343C71-9278-7112-39B6-4ECEEB0190F4}"/>
              </a:ext>
            </a:extLst>
          </p:cNvPr>
          <p:cNvPicPr>
            <a:picLocks noChangeAspect="1"/>
          </p:cNvPicPr>
          <p:nvPr/>
        </p:nvPicPr>
        <p:blipFill>
          <a:blip r:embed="rId2"/>
          <a:stretch>
            <a:fillRect/>
          </a:stretch>
        </p:blipFill>
        <p:spPr>
          <a:xfrm>
            <a:off x="2468975" y="3533242"/>
            <a:ext cx="6505051" cy="3143035"/>
          </a:xfrm>
          <a:prstGeom prst="rect">
            <a:avLst/>
          </a:prstGeom>
        </p:spPr>
      </p:pic>
      <p:sp>
        <p:nvSpPr>
          <p:cNvPr id="2" name="Title 1">
            <a:extLst>
              <a:ext uri="{FF2B5EF4-FFF2-40B4-BE49-F238E27FC236}">
                <a16:creationId xmlns:a16="http://schemas.microsoft.com/office/drawing/2014/main" id="{611492B8-0C56-DED5-3C86-C8DA8D5F4D9B}"/>
              </a:ext>
            </a:extLst>
          </p:cNvPr>
          <p:cNvSpPr>
            <a:spLocks noGrp="1"/>
          </p:cNvSpPr>
          <p:nvPr>
            <p:ph type="title"/>
          </p:nvPr>
        </p:nvSpPr>
        <p:spPr/>
        <p:txBody>
          <a:bodyPr/>
          <a:lstStyle/>
          <a:p>
            <a:r>
              <a:rPr lang="en-GB" dirty="0"/>
              <a:t>Question and Hypothesis</a:t>
            </a:r>
          </a:p>
        </p:txBody>
      </p:sp>
      <p:sp>
        <p:nvSpPr>
          <p:cNvPr id="3" name="Content Placeholder 2">
            <a:extLst>
              <a:ext uri="{FF2B5EF4-FFF2-40B4-BE49-F238E27FC236}">
                <a16:creationId xmlns:a16="http://schemas.microsoft.com/office/drawing/2014/main" id="{80853076-6EFF-6E04-FF1A-E9A0DDD783FA}"/>
              </a:ext>
            </a:extLst>
          </p:cNvPr>
          <p:cNvSpPr>
            <a:spLocks noGrp="1"/>
          </p:cNvSpPr>
          <p:nvPr>
            <p:ph idx="1"/>
          </p:nvPr>
        </p:nvSpPr>
        <p:spPr/>
        <p:txBody>
          <a:bodyPr/>
          <a:lstStyle/>
          <a:p>
            <a:r>
              <a:rPr lang="en-GB" dirty="0"/>
              <a:t>From this, the research question can be concluded as:</a:t>
            </a:r>
          </a:p>
          <a:p>
            <a:pPr marL="0" indent="0">
              <a:buNone/>
            </a:pPr>
            <a:r>
              <a:rPr lang="en-GB" dirty="0"/>
              <a:t>How does the execution time of OpenGL compare to Vulkan for a 3D Voronoi fracturing of a mesh?</a:t>
            </a:r>
          </a:p>
          <a:p>
            <a:pPr marL="0" indent="0">
              <a:buNone/>
            </a:pPr>
            <a:r>
              <a:rPr lang="en-GB" dirty="0"/>
              <a:t>And from this, we can derive the hypothesises</a:t>
            </a:r>
          </a:p>
        </p:txBody>
      </p:sp>
    </p:spTree>
    <p:extLst>
      <p:ext uri="{BB962C8B-B14F-4D97-AF65-F5344CB8AC3E}">
        <p14:creationId xmlns:p14="http://schemas.microsoft.com/office/powerpoint/2010/main" val="82831311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45935A-3C3B-EBDA-FD41-4D3B1CC86692}"/>
              </a:ext>
            </a:extLst>
          </p:cNvPr>
          <p:cNvSpPr>
            <a:spLocks noGrp="1"/>
          </p:cNvSpPr>
          <p:nvPr>
            <p:ph type="title"/>
          </p:nvPr>
        </p:nvSpPr>
        <p:spPr/>
        <p:txBody>
          <a:bodyPr/>
          <a:lstStyle/>
          <a:p>
            <a:r>
              <a:rPr lang="en-GB" dirty="0"/>
              <a:t>Lit results</a:t>
            </a:r>
          </a:p>
        </p:txBody>
      </p:sp>
      <p:sp>
        <p:nvSpPr>
          <p:cNvPr id="3" name="Content Placeholder 2">
            <a:extLst>
              <a:ext uri="{FF2B5EF4-FFF2-40B4-BE49-F238E27FC236}">
                <a16:creationId xmlns:a16="http://schemas.microsoft.com/office/drawing/2014/main" id="{8FAA704D-C297-DFE0-D951-265830F4607B}"/>
              </a:ext>
            </a:extLst>
          </p:cNvPr>
          <p:cNvSpPr>
            <a:spLocks noGrp="1"/>
          </p:cNvSpPr>
          <p:nvPr>
            <p:ph idx="1"/>
          </p:nvPr>
        </p:nvSpPr>
        <p:spPr>
          <a:xfrm>
            <a:off x="838200" y="1253331"/>
            <a:ext cx="10515600" cy="4351338"/>
          </a:xfrm>
        </p:spPr>
        <p:txBody>
          <a:bodyPr>
            <a:normAutofit fontScale="92500" lnSpcReduction="20000"/>
          </a:bodyPr>
          <a:lstStyle/>
          <a:p>
            <a:pPr marL="0" indent="0">
              <a:buNone/>
            </a:pPr>
            <a:r>
              <a:rPr lang="en-GB" dirty="0"/>
              <a:t>Vulkan will perform better than OpenGL on modern GPUs, but OpenGL could perform better on older GPUs. </a:t>
            </a:r>
          </a:p>
          <a:p>
            <a:pPr marL="0" indent="0">
              <a:buNone/>
            </a:pPr>
            <a:r>
              <a:rPr lang="en-GB" dirty="0"/>
              <a:t>Constrained Delaunay triangulation will be used due to its efficiency O(n^2) and its ability to retain the shape of a polygon on triangulation, unlike Delaunay. This is needed to </a:t>
            </a:r>
            <a:r>
              <a:rPr lang="en-GB" dirty="0" err="1"/>
              <a:t>tetrahedralise</a:t>
            </a:r>
            <a:r>
              <a:rPr lang="en-GB" dirty="0"/>
              <a:t> the mesh for clipping, as tetrahedrons are needed to clip against</a:t>
            </a:r>
          </a:p>
          <a:p>
            <a:pPr marL="0" indent="0">
              <a:buNone/>
            </a:pPr>
            <a:endParaRPr lang="en-GB" dirty="0"/>
          </a:p>
          <a:p>
            <a:pPr marL="0" indent="0">
              <a:buNone/>
            </a:pPr>
            <a:r>
              <a:rPr lang="en-GB" dirty="0"/>
              <a:t>Poisson sampling will be used as it is optimised, and will ensure a set distance between points, which is important as points being too close could result </a:t>
            </a:r>
            <a:r>
              <a:rPr lang="en-GB" dirty="0" err="1"/>
              <a:t>artefacting</a:t>
            </a:r>
            <a:r>
              <a:rPr lang="en-GB" dirty="0"/>
              <a:t> due to floating point errors</a:t>
            </a:r>
          </a:p>
          <a:p>
            <a:pPr marL="0" indent="0">
              <a:buNone/>
            </a:pPr>
            <a:r>
              <a:rPr lang="en-GB" dirty="0"/>
              <a:t>There isn’t any research that explicitly compares Vulkan and OpenGL in Voronoi.</a:t>
            </a:r>
          </a:p>
          <a:p>
            <a:pPr marL="0" indent="0">
              <a:buNone/>
            </a:pPr>
            <a:endParaRPr lang="en-GB" dirty="0"/>
          </a:p>
        </p:txBody>
      </p:sp>
    </p:spTree>
    <p:extLst>
      <p:ext uri="{BB962C8B-B14F-4D97-AF65-F5344CB8AC3E}">
        <p14:creationId xmlns:p14="http://schemas.microsoft.com/office/powerpoint/2010/main" val="379065837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C4F208-405E-A916-C68A-780DE7E8A9B3}"/>
              </a:ext>
            </a:extLst>
          </p:cNvPr>
          <p:cNvSpPr>
            <a:spLocks noGrp="1"/>
          </p:cNvSpPr>
          <p:nvPr>
            <p:ph type="title"/>
          </p:nvPr>
        </p:nvSpPr>
        <p:spPr/>
        <p:txBody>
          <a:bodyPr/>
          <a:lstStyle/>
          <a:p>
            <a:r>
              <a:rPr lang="en-GB" dirty="0"/>
              <a:t>Method</a:t>
            </a:r>
          </a:p>
        </p:txBody>
      </p:sp>
      <p:sp>
        <p:nvSpPr>
          <p:cNvPr id="3" name="Content Placeholder 2">
            <a:extLst>
              <a:ext uri="{FF2B5EF4-FFF2-40B4-BE49-F238E27FC236}">
                <a16:creationId xmlns:a16="http://schemas.microsoft.com/office/drawing/2014/main" id="{1D73BBBD-8649-55C7-6ED1-676902D7DF53}"/>
              </a:ext>
            </a:extLst>
          </p:cNvPr>
          <p:cNvSpPr>
            <a:spLocks noGrp="1"/>
          </p:cNvSpPr>
          <p:nvPr>
            <p:ph idx="1"/>
          </p:nvPr>
        </p:nvSpPr>
        <p:spPr/>
        <p:txBody>
          <a:bodyPr/>
          <a:lstStyle/>
          <a:p>
            <a:r>
              <a:rPr lang="en-GB" dirty="0"/>
              <a:t>An application for running a test of a Voronoi fracture on a 3D mesh has been created.</a:t>
            </a:r>
          </a:p>
          <a:p>
            <a:r>
              <a:rPr lang="en-GB" dirty="0"/>
              <a:t>This utilises a bridge interface between the two APIs, ensuring that to use a feature on one API both APIs must have implemented it. This reduced bias as it ensured each API was implemented with a similar level of competence.</a:t>
            </a:r>
          </a:p>
          <a:p>
            <a:pPr marL="0" indent="0">
              <a:buNone/>
            </a:pPr>
            <a:endParaRPr lang="en-GB" dirty="0"/>
          </a:p>
        </p:txBody>
      </p:sp>
    </p:spTree>
    <p:extLst>
      <p:ext uri="{BB962C8B-B14F-4D97-AF65-F5344CB8AC3E}">
        <p14:creationId xmlns:p14="http://schemas.microsoft.com/office/powerpoint/2010/main" val="9491337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E3FFF0-61A8-7F13-B4FD-D3832F4E0DC9}"/>
              </a:ext>
            </a:extLst>
          </p:cNvPr>
          <p:cNvSpPr>
            <a:spLocks noGrp="1"/>
          </p:cNvSpPr>
          <p:nvPr>
            <p:ph type="title"/>
          </p:nvPr>
        </p:nvSpPr>
        <p:spPr/>
        <p:txBody>
          <a:bodyPr/>
          <a:lstStyle/>
          <a:p>
            <a:r>
              <a:rPr lang="en-GB" dirty="0"/>
              <a:t>Method</a:t>
            </a:r>
          </a:p>
        </p:txBody>
      </p:sp>
      <p:sp>
        <p:nvSpPr>
          <p:cNvPr id="3" name="Content Placeholder 2">
            <a:extLst>
              <a:ext uri="{FF2B5EF4-FFF2-40B4-BE49-F238E27FC236}">
                <a16:creationId xmlns:a16="http://schemas.microsoft.com/office/drawing/2014/main" id="{0905788F-BF98-72B2-C8B7-6A002FFEFEB8}"/>
              </a:ext>
            </a:extLst>
          </p:cNvPr>
          <p:cNvSpPr>
            <a:spLocks noGrp="1"/>
          </p:cNvSpPr>
          <p:nvPr>
            <p:ph idx="1"/>
          </p:nvPr>
        </p:nvSpPr>
        <p:spPr/>
        <p:txBody>
          <a:bodyPr>
            <a:normAutofit/>
          </a:bodyPr>
          <a:lstStyle/>
          <a:p>
            <a:r>
              <a:rPr lang="en-GB" dirty="0"/>
              <a:t>To solve the research question, point set sizes from 2-100 have been test 145 times,  as G*Power calculated that as the needed sample size. </a:t>
            </a:r>
          </a:p>
          <a:p>
            <a:r>
              <a:rPr lang="en-GB" dirty="0"/>
              <a:t> The time has been recorded for the cell generation and cell clipping stages. Recording started at compute shader dispatch, and ended after the fence had signalled completion. This left out pre-processing and data buffering as that is not what was being tested. </a:t>
            </a:r>
          </a:p>
        </p:txBody>
      </p:sp>
    </p:spTree>
    <p:extLst>
      <p:ext uri="{BB962C8B-B14F-4D97-AF65-F5344CB8AC3E}">
        <p14:creationId xmlns:p14="http://schemas.microsoft.com/office/powerpoint/2010/main" val="25241240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88996B-5EF0-D0F4-49CF-6B416F9063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161B19-015B-16DA-5BFE-6D7549F901C9}"/>
              </a:ext>
            </a:extLst>
          </p:cNvPr>
          <p:cNvSpPr>
            <a:spLocks noGrp="1"/>
          </p:cNvSpPr>
          <p:nvPr>
            <p:ph type="title"/>
          </p:nvPr>
        </p:nvSpPr>
        <p:spPr/>
        <p:txBody>
          <a:bodyPr/>
          <a:lstStyle/>
          <a:p>
            <a:r>
              <a:rPr lang="en-GB" dirty="0"/>
              <a:t>Method</a:t>
            </a:r>
          </a:p>
        </p:txBody>
      </p:sp>
      <p:sp>
        <p:nvSpPr>
          <p:cNvPr id="3" name="Content Placeholder 2">
            <a:extLst>
              <a:ext uri="{FF2B5EF4-FFF2-40B4-BE49-F238E27FC236}">
                <a16:creationId xmlns:a16="http://schemas.microsoft.com/office/drawing/2014/main" id="{EDC825C5-5794-0DA1-CAAB-AB52CB465BE8}"/>
              </a:ext>
            </a:extLst>
          </p:cNvPr>
          <p:cNvSpPr>
            <a:spLocks noGrp="1"/>
          </p:cNvSpPr>
          <p:nvPr>
            <p:ph idx="1"/>
          </p:nvPr>
        </p:nvSpPr>
        <p:spPr/>
        <p:txBody>
          <a:bodyPr>
            <a:normAutofit/>
          </a:bodyPr>
          <a:lstStyle/>
          <a:p>
            <a:r>
              <a:rPr lang="en-GB" dirty="0"/>
              <a:t>After all sets have been recorded,  the mean of each point set size was calculated, and used to create a two </a:t>
            </a:r>
            <a:r>
              <a:rPr lang="en-GB" dirty="0" err="1"/>
              <a:t>lineplots</a:t>
            </a:r>
            <a:r>
              <a:rPr lang="en-GB" dirty="0"/>
              <a:t>, one for generation, one for clipping. </a:t>
            </a:r>
          </a:p>
          <a:p>
            <a:r>
              <a:rPr lang="en-GB" dirty="0"/>
              <a:t>A multiple linear regression test was performed twice, one for generation, one for clipping, with this formula: </a:t>
            </a:r>
          </a:p>
        </p:txBody>
      </p:sp>
      <p:pic>
        <p:nvPicPr>
          <p:cNvPr id="5" name="Picture 4">
            <a:extLst>
              <a:ext uri="{FF2B5EF4-FFF2-40B4-BE49-F238E27FC236}">
                <a16:creationId xmlns:a16="http://schemas.microsoft.com/office/drawing/2014/main" id="{66420197-E680-4AFF-AF70-717D16EF8807}"/>
              </a:ext>
            </a:extLst>
          </p:cNvPr>
          <p:cNvPicPr>
            <a:picLocks noChangeAspect="1"/>
          </p:cNvPicPr>
          <p:nvPr/>
        </p:nvPicPr>
        <p:blipFill>
          <a:blip r:embed="rId2"/>
          <a:stretch>
            <a:fillRect/>
          </a:stretch>
        </p:blipFill>
        <p:spPr>
          <a:xfrm>
            <a:off x="2022494" y="4312141"/>
            <a:ext cx="7438127" cy="1532704"/>
          </a:xfrm>
          <a:prstGeom prst="rect">
            <a:avLst/>
          </a:prstGeom>
        </p:spPr>
      </p:pic>
    </p:spTree>
    <p:extLst>
      <p:ext uri="{BB962C8B-B14F-4D97-AF65-F5344CB8AC3E}">
        <p14:creationId xmlns:p14="http://schemas.microsoft.com/office/powerpoint/2010/main" val="36820414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03AF3A-EBB3-72B1-B595-B286C927794D}"/>
              </a:ext>
            </a:extLst>
          </p:cNvPr>
          <p:cNvSpPr>
            <a:spLocks noGrp="1"/>
          </p:cNvSpPr>
          <p:nvPr>
            <p:ph type="title"/>
          </p:nvPr>
        </p:nvSpPr>
        <p:spPr/>
        <p:txBody>
          <a:bodyPr/>
          <a:lstStyle/>
          <a:p>
            <a:r>
              <a:rPr lang="en-GB" dirty="0"/>
              <a:t>Implementation</a:t>
            </a:r>
          </a:p>
        </p:txBody>
      </p:sp>
      <p:pic>
        <p:nvPicPr>
          <p:cNvPr id="4" name="Picture 3">
            <a:extLst>
              <a:ext uri="{FF2B5EF4-FFF2-40B4-BE49-F238E27FC236}">
                <a16:creationId xmlns:a16="http://schemas.microsoft.com/office/drawing/2014/main" id="{F0897422-2553-69E7-C937-641B42F91538}"/>
              </a:ext>
            </a:extLst>
          </p:cNvPr>
          <p:cNvPicPr>
            <a:picLocks noChangeAspect="1"/>
          </p:cNvPicPr>
          <p:nvPr/>
        </p:nvPicPr>
        <p:blipFill>
          <a:blip r:embed="rId2"/>
          <a:stretch>
            <a:fillRect/>
          </a:stretch>
        </p:blipFill>
        <p:spPr>
          <a:xfrm>
            <a:off x="682614" y="1288752"/>
            <a:ext cx="10123436" cy="5204123"/>
          </a:xfrm>
          <a:prstGeom prst="rect">
            <a:avLst/>
          </a:prstGeom>
        </p:spPr>
      </p:pic>
    </p:spTree>
    <p:extLst>
      <p:ext uri="{BB962C8B-B14F-4D97-AF65-F5344CB8AC3E}">
        <p14:creationId xmlns:p14="http://schemas.microsoft.com/office/powerpoint/2010/main" val="82129076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D7CAE2-D501-EFC8-2BC7-68E9BA47F8CF}"/>
              </a:ext>
            </a:extLst>
          </p:cNvPr>
          <p:cNvSpPr>
            <a:spLocks noGrp="1"/>
          </p:cNvSpPr>
          <p:nvPr>
            <p:ph type="title"/>
          </p:nvPr>
        </p:nvSpPr>
        <p:spPr>
          <a:xfrm>
            <a:off x="838200" y="500062"/>
            <a:ext cx="10515600" cy="1325563"/>
          </a:xfrm>
        </p:spPr>
        <p:txBody>
          <a:bodyPr/>
          <a:lstStyle/>
          <a:p>
            <a:r>
              <a:rPr lang="en-GB" dirty="0"/>
              <a:t>Quality Assurance</a:t>
            </a:r>
          </a:p>
        </p:txBody>
      </p:sp>
      <p:sp>
        <p:nvSpPr>
          <p:cNvPr id="3" name="Content Placeholder 2">
            <a:extLst>
              <a:ext uri="{FF2B5EF4-FFF2-40B4-BE49-F238E27FC236}">
                <a16:creationId xmlns:a16="http://schemas.microsoft.com/office/drawing/2014/main" id="{45B6FC2D-4A43-524E-D81B-10C3E5385171}"/>
              </a:ext>
            </a:extLst>
          </p:cNvPr>
          <p:cNvSpPr>
            <a:spLocks noGrp="1"/>
          </p:cNvSpPr>
          <p:nvPr>
            <p:ph idx="1"/>
          </p:nvPr>
        </p:nvSpPr>
        <p:spPr/>
        <p:txBody>
          <a:bodyPr/>
          <a:lstStyle/>
          <a:p>
            <a:r>
              <a:rPr lang="en-GB" dirty="0"/>
              <a:t>Polarity testing using unit test have been performed, helping to test that the program was functioning, and how well it responded to unexpected inputs. </a:t>
            </a:r>
          </a:p>
          <a:p>
            <a:r>
              <a:rPr lang="en-GB" dirty="0"/>
              <a:t>Assert statements have been used where appropriate to improve maintainability.</a:t>
            </a:r>
          </a:p>
          <a:p>
            <a:r>
              <a:rPr lang="en-GB" dirty="0"/>
              <a:t>User expectation testing has been carried out,  to ensure the fracturing looks visually correct</a:t>
            </a:r>
          </a:p>
          <a:p>
            <a:r>
              <a:rPr lang="en-GB" dirty="0"/>
              <a:t>Smoke test on build to ensure everything runs correctly</a:t>
            </a:r>
          </a:p>
        </p:txBody>
      </p:sp>
    </p:spTree>
    <p:extLst>
      <p:ext uri="{BB962C8B-B14F-4D97-AF65-F5344CB8AC3E}">
        <p14:creationId xmlns:p14="http://schemas.microsoft.com/office/powerpoint/2010/main" val="174851232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13B36F-B22E-FBA3-2041-83206414A77B}"/>
              </a:ext>
            </a:extLst>
          </p:cNvPr>
          <p:cNvSpPr>
            <a:spLocks noGrp="1"/>
          </p:cNvSpPr>
          <p:nvPr>
            <p:ph type="title"/>
          </p:nvPr>
        </p:nvSpPr>
        <p:spPr/>
        <p:txBody>
          <a:bodyPr/>
          <a:lstStyle/>
          <a:p>
            <a:r>
              <a:rPr lang="en-GB" dirty="0"/>
              <a:t>Legal</a:t>
            </a:r>
          </a:p>
        </p:txBody>
      </p:sp>
      <p:sp>
        <p:nvSpPr>
          <p:cNvPr id="3" name="Content Placeholder 2">
            <a:extLst>
              <a:ext uri="{FF2B5EF4-FFF2-40B4-BE49-F238E27FC236}">
                <a16:creationId xmlns:a16="http://schemas.microsoft.com/office/drawing/2014/main" id="{90F494F6-1F61-10CA-495B-6C6C1B422550}"/>
              </a:ext>
            </a:extLst>
          </p:cNvPr>
          <p:cNvSpPr>
            <a:spLocks noGrp="1"/>
          </p:cNvSpPr>
          <p:nvPr>
            <p:ph idx="1"/>
          </p:nvPr>
        </p:nvSpPr>
        <p:spPr/>
        <p:txBody>
          <a:bodyPr/>
          <a:lstStyle/>
          <a:p>
            <a:r>
              <a:rPr lang="en-GB" dirty="0"/>
              <a:t>Doesn’t violate GDPR.</a:t>
            </a:r>
          </a:p>
          <a:p>
            <a:r>
              <a:rPr lang="en-GB" dirty="0"/>
              <a:t>Voronoi diagrams and Voronoi clipping are in the public domain.</a:t>
            </a:r>
          </a:p>
          <a:p>
            <a:r>
              <a:rPr lang="en-GB" dirty="0"/>
              <a:t>Vulkan and OpenGL are in the public domain, however the implementations are not. However, as we don’t modify the drivers, this does not apply.</a:t>
            </a:r>
          </a:p>
        </p:txBody>
      </p:sp>
    </p:spTree>
    <p:extLst>
      <p:ext uri="{BB962C8B-B14F-4D97-AF65-F5344CB8AC3E}">
        <p14:creationId xmlns:p14="http://schemas.microsoft.com/office/powerpoint/2010/main" val="107575829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239C9-625B-9841-97E2-D9900B8F211F}"/>
              </a:ext>
            </a:extLst>
          </p:cNvPr>
          <p:cNvSpPr>
            <a:spLocks noGrp="1"/>
          </p:cNvSpPr>
          <p:nvPr>
            <p:ph type="title"/>
          </p:nvPr>
        </p:nvSpPr>
        <p:spPr/>
        <p:txBody>
          <a:bodyPr/>
          <a:lstStyle/>
          <a:p>
            <a:r>
              <a:rPr lang="en-GB" dirty="0"/>
              <a:t>Social</a:t>
            </a:r>
          </a:p>
        </p:txBody>
      </p:sp>
      <p:sp>
        <p:nvSpPr>
          <p:cNvPr id="3" name="Content Placeholder 2">
            <a:extLst>
              <a:ext uri="{FF2B5EF4-FFF2-40B4-BE49-F238E27FC236}">
                <a16:creationId xmlns:a16="http://schemas.microsoft.com/office/drawing/2014/main" id="{8AE052A4-39C3-7795-A20C-F72F508A6DB9}"/>
              </a:ext>
            </a:extLst>
          </p:cNvPr>
          <p:cNvSpPr>
            <a:spLocks noGrp="1"/>
          </p:cNvSpPr>
          <p:nvPr>
            <p:ph idx="1"/>
          </p:nvPr>
        </p:nvSpPr>
        <p:spPr/>
        <p:txBody>
          <a:bodyPr/>
          <a:lstStyle/>
          <a:p>
            <a:r>
              <a:rPr lang="en-GB" dirty="0"/>
              <a:t>Could lower the hardware barrier for applications that use Voronoi. This would increase accessibility.</a:t>
            </a:r>
          </a:p>
          <a:p>
            <a:r>
              <a:rPr lang="en-GB" dirty="0"/>
              <a:t>Could shift the development trends if a significant performance advantage is shown by one of the API. This could result in increased hiring for that API, and a change in the educational priority's.</a:t>
            </a:r>
          </a:p>
        </p:txBody>
      </p:sp>
    </p:spTree>
    <p:extLst>
      <p:ext uri="{BB962C8B-B14F-4D97-AF65-F5344CB8AC3E}">
        <p14:creationId xmlns:p14="http://schemas.microsoft.com/office/powerpoint/2010/main" val="404257370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3A2D4C-D5FA-94E3-3A59-E862798C5872}"/>
              </a:ext>
            </a:extLst>
          </p:cNvPr>
          <p:cNvSpPr>
            <a:spLocks noGrp="1"/>
          </p:cNvSpPr>
          <p:nvPr>
            <p:ph type="title"/>
          </p:nvPr>
        </p:nvSpPr>
        <p:spPr/>
        <p:txBody>
          <a:bodyPr/>
          <a:lstStyle/>
          <a:p>
            <a:r>
              <a:rPr lang="en-GB" dirty="0"/>
              <a:t>Ethical</a:t>
            </a:r>
          </a:p>
        </p:txBody>
      </p:sp>
      <p:sp>
        <p:nvSpPr>
          <p:cNvPr id="3" name="Content Placeholder 2">
            <a:extLst>
              <a:ext uri="{FF2B5EF4-FFF2-40B4-BE49-F238E27FC236}">
                <a16:creationId xmlns:a16="http://schemas.microsoft.com/office/drawing/2014/main" id="{A85B0C75-3CCE-5DA1-7C7E-890FB40D8138}"/>
              </a:ext>
            </a:extLst>
          </p:cNvPr>
          <p:cNvSpPr>
            <a:spLocks noGrp="1"/>
          </p:cNvSpPr>
          <p:nvPr>
            <p:ph idx="1"/>
          </p:nvPr>
        </p:nvSpPr>
        <p:spPr>
          <a:xfrm>
            <a:off x="476122" y="1399216"/>
            <a:ext cx="10515600" cy="4771610"/>
          </a:xfrm>
        </p:spPr>
        <p:txBody>
          <a:bodyPr>
            <a:normAutofit fontScale="85000" lnSpcReduction="20000"/>
          </a:bodyPr>
          <a:lstStyle/>
          <a:p>
            <a:r>
              <a:rPr lang="en-GB" dirty="0"/>
              <a:t>Approved as low risk 14 as it does not violate any of the ethical concerns on the ethics checklist such as involving any participants or personal data or violating GDPR. </a:t>
            </a:r>
          </a:p>
          <a:p>
            <a:r>
              <a:rPr lang="en-GB" dirty="0"/>
              <a:t>The accuracy and transparency of recorded results are critical as misleading results could negatively influence developer decisions. Actions have been taken to ensure this by clearly stating the limitations of this research and performing tests to ensure the quality of this experiment. </a:t>
            </a:r>
          </a:p>
          <a:p>
            <a:r>
              <a:rPr lang="en-GB" dirty="0"/>
              <a:t>This project also takes care to not make any claims beyond the scope of this experiment, following the BCS code of practice. </a:t>
            </a:r>
          </a:p>
          <a:p>
            <a:r>
              <a:rPr lang="en-GB" dirty="0"/>
              <a:t>Additionally, this work aims to minimise bias by ensuring equivalent implementations of Vulkan and OpenGL, so that any trends shown are due to the API’s design rather than outside factors like implementation. However, a complete removal of bias from this paper was not possible due to hard to control factors like temperature which can lead to throttling, or hardware specific optimisations that remained out of the experiments control.</a:t>
            </a:r>
          </a:p>
        </p:txBody>
      </p:sp>
    </p:spTree>
    <p:extLst>
      <p:ext uri="{BB962C8B-B14F-4D97-AF65-F5344CB8AC3E}">
        <p14:creationId xmlns:p14="http://schemas.microsoft.com/office/powerpoint/2010/main" val="4002728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5C0714-99D1-C812-7A21-2EFE609A4213}"/>
              </a:ext>
            </a:extLst>
          </p:cNvPr>
          <p:cNvSpPr>
            <a:spLocks noGrp="1"/>
          </p:cNvSpPr>
          <p:nvPr>
            <p:ph type="title"/>
          </p:nvPr>
        </p:nvSpPr>
        <p:spPr/>
        <p:txBody>
          <a:bodyPr/>
          <a:lstStyle/>
          <a:p>
            <a:r>
              <a:rPr lang="en-GB" dirty="0"/>
              <a:t>Professional</a:t>
            </a:r>
          </a:p>
        </p:txBody>
      </p:sp>
      <p:sp>
        <p:nvSpPr>
          <p:cNvPr id="3" name="Content Placeholder 2">
            <a:extLst>
              <a:ext uri="{FF2B5EF4-FFF2-40B4-BE49-F238E27FC236}">
                <a16:creationId xmlns:a16="http://schemas.microsoft.com/office/drawing/2014/main" id="{5BBBDAC6-C6A0-FBD9-83DD-53A07E17D03A}"/>
              </a:ext>
            </a:extLst>
          </p:cNvPr>
          <p:cNvSpPr>
            <a:spLocks noGrp="1"/>
          </p:cNvSpPr>
          <p:nvPr>
            <p:ph idx="1"/>
          </p:nvPr>
        </p:nvSpPr>
        <p:spPr/>
        <p:txBody>
          <a:bodyPr/>
          <a:lstStyle/>
          <a:p>
            <a:r>
              <a:rPr lang="en-GB" dirty="0"/>
              <a:t>Adheres to the </a:t>
            </a:r>
            <a:r>
              <a:rPr lang="en-GB" dirty="0" err="1"/>
              <a:t>bcs</a:t>
            </a:r>
            <a:r>
              <a:rPr lang="en-GB" dirty="0"/>
              <a:t> code of conduct of not claiming a level of competence one does not possess by stating results have not been tested on a wide variety of machines.</a:t>
            </a:r>
          </a:p>
          <a:p>
            <a:r>
              <a:rPr lang="en-GB" dirty="0"/>
              <a:t>Follows Nuremburg code by providing research which will only benefit society, which this paper does by conducting research  to clarify the more optimised API for Voronoi destruction.</a:t>
            </a:r>
          </a:p>
        </p:txBody>
      </p:sp>
    </p:spTree>
    <p:extLst>
      <p:ext uri="{BB962C8B-B14F-4D97-AF65-F5344CB8AC3E}">
        <p14:creationId xmlns:p14="http://schemas.microsoft.com/office/powerpoint/2010/main" val="248390613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397B4D-3198-4011-E7F5-4F746128BF63}"/>
              </a:ext>
            </a:extLst>
          </p:cNvPr>
          <p:cNvSpPr>
            <a:spLocks noGrp="1"/>
          </p:cNvSpPr>
          <p:nvPr>
            <p:ph type="title"/>
          </p:nvPr>
        </p:nvSpPr>
        <p:spPr/>
        <p:txBody>
          <a:bodyPr/>
          <a:lstStyle/>
          <a:p>
            <a:r>
              <a:rPr lang="en-GB" dirty="0"/>
              <a:t>Sustainability</a:t>
            </a:r>
          </a:p>
        </p:txBody>
      </p:sp>
      <p:sp>
        <p:nvSpPr>
          <p:cNvPr id="3" name="Content Placeholder 2">
            <a:extLst>
              <a:ext uri="{FF2B5EF4-FFF2-40B4-BE49-F238E27FC236}">
                <a16:creationId xmlns:a16="http://schemas.microsoft.com/office/drawing/2014/main" id="{C0F9AA77-988B-6CC9-FD14-2EFB45026FC4}"/>
              </a:ext>
            </a:extLst>
          </p:cNvPr>
          <p:cNvSpPr>
            <a:spLocks noGrp="1"/>
          </p:cNvSpPr>
          <p:nvPr>
            <p:ph idx="1"/>
          </p:nvPr>
        </p:nvSpPr>
        <p:spPr/>
        <p:txBody>
          <a:bodyPr/>
          <a:lstStyle/>
          <a:p>
            <a:r>
              <a:rPr lang="en-GB" dirty="0"/>
              <a:t>Whilst improved execution time can lead to reduced energy consumption, it does not guarantee it. Modern GPU's employ DVFS that can lead to increased power consumption with lower execution time, so whilst gaming across the world can use a large amount of electricity, this project will not necessarily reduce that cost. However, this warrants further investigation.</a:t>
            </a:r>
          </a:p>
        </p:txBody>
      </p:sp>
    </p:spTree>
    <p:extLst>
      <p:ext uri="{BB962C8B-B14F-4D97-AF65-F5344CB8AC3E}">
        <p14:creationId xmlns:p14="http://schemas.microsoft.com/office/powerpoint/2010/main" val="262166722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A6F85E-3BA7-506A-8EE4-2E0819A98329}"/>
            </a:ext>
          </a:extLst>
        </p:cNvPr>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9958BAF2-ACB6-7BB8-EEE4-BBDFE8E708C8}"/>
              </a:ext>
            </a:extLst>
          </p:cNvPr>
          <p:cNvPicPr>
            <a:picLocks noGrp="1" noChangeAspect="1"/>
          </p:cNvPicPr>
          <p:nvPr>
            <p:ph idx="1"/>
          </p:nvPr>
        </p:nvPicPr>
        <p:blipFill>
          <a:blip>
            <a:extLst>
              <a:ext uri="{96DAC541-7B7A-43D3-8B79-37D633B846F1}">
                <asvg:svgBlip xmlns:asvg="http://schemas.microsoft.com/office/drawing/2016/SVG/main" r:embed="rId3"/>
              </a:ext>
            </a:extLst>
          </a:blip>
          <a:stretch>
            <a:fillRect/>
          </a:stretch>
        </p:blipFill>
        <p:spPr>
          <a:xfrm>
            <a:off x="-702260" y="1386833"/>
            <a:ext cx="7351776" cy="4454046"/>
          </a:xfrm>
          <a:prstGeom prst="rect">
            <a:avLst/>
          </a:prstGeom>
        </p:spPr>
      </p:pic>
      <p:sp>
        <p:nvSpPr>
          <p:cNvPr id="2" name="Title 1">
            <a:extLst>
              <a:ext uri="{FF2B5EF4-FFF2-40B4-BE49-F238E27FC236}">
                <a16:creationId xmlns:a16="http://schemas.microsoft.com/office/drawing/2014/main" id="{5E19F80D-B7B9-68B3-6464-57055C11367E}"/>
              </a:ext>
            </a:extLst>
          </p:cNvPr>
          <p:cNvSpPr>
            <a:spLocks noGrp="1"/>
          </p:cNvSpPr>
          <p:nvPr>
            <p:ph type="title"/>
          </p:nvPr>
        </p:nvSpPr>
        <p:spPr>
          <a:xfrm>
            <a:off x="838200" y="500062"/>
            <a:ext cx="10515600" cy="1325563"/>
          </a:xfrm>
        </p:spPr>
        <p:txBody>
          <a:bodyPr/>
          <a:lstStyle/>
          <a:p>
            <a:r>
              <a:rPr lang="en-GB" dirty="0"/>
              <a:t>Results</a:t>
            </a:r>
          </a:p>
        </p:txBody>
      </p:sp>
      <p:pic>
        <p:nvPicPr>
          <p:cNvPr id="7" name="Graphic 6">
            <a:extLst>
              <a:ext uri="{FF2B5EF4-FFF2-40B4-BE49-F238E27FC236}">
                <a16:creationId xmlns:a16="http://schemas.microsoft.com/office/drawing/2014/main" id="{394C7F9E-70C4-E498-0D5E-4454D3320AC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47537" y="1386833"/>
            <a:ext cx="5922874" cy="4377152"/>
          </a:xfrm>
          <a:prstGeom prst="rect">
            <a:avLst/>
          </a:prstGeom>
        </p:spPr>
      </p:pic>
      <p:sp>
        <p:nvSpPr>
          <p:cNvPr id="8" name="TextBox 7">
            <a:extLst>
              <a:ext uri="{FF2B5EF4-FFF2-40B4-BE49-F238E27FC236}">
                <a16:creationId xmlns:a16="http://schemas.microsoft.com/office/drawing/2014/main" id="{C292C032-529B-4492-3BCB-B8A3E7B24F3F}"/>
              </a:ext>
            </a:extLst>
          </p:cNvPr>
          <p:cNvSpPr txBox="1"/>
          <p:nvPr/>
        </p:nvSpPr>
        <p:spPr>
          <a:xfrm>
            <a:off x="8061352" y="5763985"/>
            <a:ext cx="4491533" cy="369332"/>
          </a:xfrm>
          <a:prstGeom prst="rect">
            <a:avLst/>
          </a:prstGeom>
          <a:noFill/>
        </p:spPr>
        <p:txBody>
          <a:bodyPr wrap="square" rtlCol="0">
            <a:spAutoFit/>
          </a:bodyPr>
          <a:lstStyle/>
          <a:p>
            <a:r>
              <a:rPr lang="en-GB" dirty="0"/>
              <a:t>Generation results without outliers</a:t>
            </a:r>
          </a:p>
        </p:txBody>
      </p:sp>
      <p:sp>
        <p:nvSpPr>
          <p:cNvPr id="9" name="TextBox 8">
            <a:extLst>
              <a:ext uri="{FF2B5EF4-FFF2-40B4-BE49-F238E27FC236}">
                <a16:creationId xmlns:a16="http://schemas.microsoft.com/office/drawing/2014/main" id="{655176D2-DE38-7E0C-7609-C5C268BC1AAC}"/>
              </a:ext>
            </a:extLst>
          </p:cNvPr>
          <p:cNvSpPr txBox="1"/>
          <p:nvPr/>
        </p:nvSpPr>
        <p:spPr>
          <a:xfrm>
            <a:off x="943661" y="6327648"/>
            <a:ext cx="2561983" cy="369332"/>
          </a:xfrm>
          <a:prstGeom prst="rect">
            <a:avLst/>
          </a:prstGeom>
          <a:noFill/>
        </p:spPr>
        <p:txBody>
          <a:bodyPr wrap="none" rtlCol="0">
            <a:spAutoFit/>
          </a:bodyPr>
          <a:lstStyle/>
          <a:p>
            <a:r>
              <a:rPr lang="en-GB" dirty="0"/>
              <a:t>Generation with outliers</a:t>
            </a:r>
          </a:p>
        </p:txBody>
      </p:sp>
    </p:spTree>
    <p:extLst>
      <p:ext uri="{BB962C8B-B14F-4D97-AF65-F5344CB8AC3E}">
        <p14:creationId xmlns:p14="http://schemas.microsoft.com/office/powerpoint/2010/main" val="249586502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016A37-F9EC-FC5F-7FE2-E1C2F87125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7163C4-0B71-D51D-5ECF-0D72D68BC460}"/>
              </a:ext>
            </a:extLst>
          </p:cNvPr>
          <p:cNvSpPr>
            <a:spLocks noGrp="1"/>
          </p:cNvSpPr>
          <p:nvPr>
            <p:ph type="title"/>
          </p:nvPr>
        </p:nvSpPr>
        <p:spPr>
          <a:xfrm>
            <a:off x="399288" y="565899"/>
            <a:ext cx="10515600" cy="1325563"/>
          </a:xfrm>
        </p:spPr>
        <p:txBody>
          <a:bodyPr/>
          <a:lstStyle/>
          <a:p>
            <a:r>
              <a:rPr lang="en-GB" dirty="0"/>
              <a:t>Results</a:t>
            </a:r>
          </a:p>
        </p:txBody>
      </p:sp>
      <p:pic>
        <p:nvPicPr>
          <p:cNvPr id="10" name="Picture 9">
            <a:extLst>
              <a:ext uri="{FF2B5EF4-FFF2-40B4-BE49-F238E27FC236}">
                <a16:creationId xmlns:a16="http://schemas.microsoft.com/office/drawing/2014/main" id="{CF6FCF56-6146-ABEC-84A4-4A32FAA593A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03544" y="1822663"/>
            <a:ext cx="9285149" cy="4981432"/>
          </a:xfrm>
          <a:prstGeom prst="rect">
            <a:avLst/>
          </a:prstGeom>
        </p:spPr>
      </p:pic>
      <p:sp>
        <p:nvSpPr>
          <p:cNvPr id="11" name="TextBox 10">
            <a:extLst>
              <a:ext uri="{FF2B5EF4-FFF2-40B4-BE49-F238E27FC236}">
                <a16:creationId xmlns:a16="http://schemas.microsoft.com/office/drawing/2014/main" id="{52E5A33C-7012-6C51-EBC9-67BE8EDD9BCC}"/>
              </a:ext>
            </a:extLst>
          </p:cNvPr>
          <p:cNvSpPr txBox="1"/>
          <p:nvPr/>
        </p:nvSpPr>
        <p:spPr>
          <a:xfrm>
            <a:off x="3780339" y="1228680"/>
            <a:ext cx="5013617" cy="369332"/>
          </a:xfrm>
          <a:prstGeom prst="rect">
            <a:avLst/>
          </a:prstGeom>
          <a:noFill/>
        </p:spPr>
        <p:txBody>
          <a:bodyPr wrap="none" rtlCol="0">
            <a:spAutoFit/>
          </a:bodyPr>
          <a:lstStyle/>
          <a:p>
            <a:r>
              <a:rPr lang="en-GB" dirty="0"/>
              <a:t>Generation multiple linear regression test results</a:t>
            </a:r>
          </a:p>
        </p:txBody>
      </p:sp>
    </p:spTree>
    <p:extLst>
      <p:ext uri="{BB962C8B-B14F-4D97-AF65-F5344CB8AC3E}">
        <p14:creationId xmlns:p14="http://schemas.microsoft.com/office/powerpoint/2010/main" val="159965406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EDF74-7B8D-32CF-3C96-9D99B55F215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BEEFCCF-E186-ABFF-B2F0-E2CB1D32F554}"/>
              </a:ext>
            </a:extLst>
          </p:cNvPr>
          <p:cNvSpPr>
            <a:spLocks noGrp="1"/>
          </p:cNvSpPr>
          <p:nvPr>
            <p:ph type="title"/>
          </p:nvPr>
        </p:nvSpPr>
        <p:spPr>
          <a:xfrm>
            <a:off x="399288" y="565899"/>
            <a:ext cx="10515600" cy="1325563"/>
          </a:xfrm>
        </p:spPr>
        <p:txBody>
          <a:bodyPr/>
          <a:lstStyle/>
          <a:p>
            <a:r>
              <a:rPr lang="en-GB" dirty="0"/>
              <a:t>Results</a:t>
            </a:r>
          </a:p>
        </p:txBody>
      </p:sp>
      <p:sp>
        <p:nvSpPr>
          <p:cNvPr id="3" name="TextBox 2">
            <a:extLst>
              <a:ext uri="{FF2B5EF4-FFF2-40B4-BE49-F238E27FC236}">
                <a16:creationId xmlns:a16="http://schemas.microsoft.com/office/drawing/2014/main" id="{F28B518C-7553-BF08-2FFD-4A9D85AE2D5E}"/>
              </a:ext>
            </a:extLst>
          </p:cNvPr>
          <p:cNvSpPr txBox="1"/>
          <p:nvPr/>
        </p:nvSpPr>
        <p:spPr>
          <a:xfrm>
            <a:off x="829744" y="1891462"/>
            <a:ext cx="5821576" cy="2031325"/>
          </a:xfrm>
          <a:prstGeom prst="rect">
            <a:avLst/>
          </a:prstGeom>
          <a:noFill/>
        </p:spPr>
        <p:txBody>
          <a:bodyPr wrap="square" rtlCol="0">
            <a:spAutoFit/>
          </a:bodyPr>
          <a:lstStyle/>
          <a:p>
            <a:r>
              <a:rPr lang="en-GB" dirty="0"/>
              <a:t>These results indicate that hypothesis one is true, as whilst there is no initial significant statistical difference between Vulkan and OpenGL, there is a statistically significant difference as they scale. OpenGL is faster initially, with Vulkan scaling better. The chosen GPU has no statistically significant affect on the APIs performance for  Generation.</a:t>
            </a:r>
          </a:p>
        </p:txBody>
      </p:sp>
    </p:spTree>
    <p:extLst>
      <p:ext uri="{BB962C8B-B14F-4D97-AF65-F5344CB8AC3E}">
        <p14:creationId xmlns:p14="http://schemas.microsoft.com/office/powerpoint/2010/main" val="279260778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B20280-23BF-267A-C164-FC337D16629E}"/>
            </a:ext>
          </a:extLst>
        </p:cNvPr>
        <p:cNvGrpSpPr/>
        <p:nvPr/>
      </p:nvGrpSpPr>
      <p:grpSpPr>
        <a:xfrm>
          <a:off x="0" y="0"/>
          <a:ext cx="0" cy="0"/>
          <a:chOff x="0" y="0"/>
          <a:chExt cx="0" cy="0"/>
        </a:xfrm>
      </p:grpSpPr>
      <p:pic>
        <p:nvPicPr>
          <p:cNvPr id="10" name="Graphic 9">
            <a:extLst>
              <a:ext uri="{FF2B5EF4-FFF2-40B4-BE49-F238E27FC236}">
                <a16:creationId xmlns:a16="http://schemas.microsoft.com/office/drawing/2014/main" id="{69F3875D-00DA-09CD-5ACD-25C06716E73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0" y="724683"/>
            <a:ext cx="11687251" cy="5459673"/>
          </a:xfrm>
          <a:prstGeom prst="rect">
            <a:avLst/>
          </a:prstGeom>
        </p:spPr>
      </p:pic>
      <p:sp>
        <p:nvSpPr>
          <p:cNvPr id="2" name="Title 1">
            <a:extLst>
              <a:ext uri="{FF2B5EF4-FFF2-40B4-BE49-F238E27FC236}">
                <a16:creationId xmlns:a16="http://schemas.microsoft.com/office/drawing/2014/main" id="{95409C8F-C47D-B000-9088-896228FA4187}"/>
              </a:ext>
            </a:extLst>
          </p:cNvPr>
          <p:cNvSpPr>
            <a:spLocks noGrp="1"/>
          </p:cNvSpPr>
          <p:nvPr>
            <p:ph type="title"/>
          </p:nvPr>
        </p:nvSpPr>
        <p:spPr>
          <a:xfrm>
            <a:off x="838200" y="500062"/>
            <a:ext cx="10515600" cy="1325563"/>
          </a:xfrm>
        </p:spPr>
        <p:txBody>
          <a:bodyPr/>
          <a:lstStyle/>
          <a:p>
            <a:r>
              <a:rPr lang="en-GB" dirty="0"/>
              <a:t>Results</a:t>
            </a:r>
          </a:p>
        </p:txBody>
      </p:sp>
      <p:sp>
        <p:nvSpPr>
          <p:cNvPr id="8" name="TextBox 7">
            <a:extLst>
              <a:ext uri="{FF2B5EF4-FFF2-40B4-BE49-F238E27FC236}">
                <a16:creationId xmlns:a16="http://schemas.microsoft.com/office/drawing/2014/main" id="{3111A522-CD65-B9F0-3548-B2BA39B90787}"/>
              </a:ext>
            </a:extLst>
          </p:cNvPr>
          <p:cNvSpPr txBox="1"/>
          <p:nvPr/>
        </p:nvSpPr>
        <p:spPr>
          <a:xfrm>
            <a:off x="4323285" y="6133317"/>
            <a:ext cx="4491533" cy="369332"/>
          </a:xfrm>
          <a:prstGeom prst="rect">
            <a:avLst/>
          </a:prstGeom>
          <a:noFill/>
        </p:spPr>
        <p:txBody>
          <a:bodyPr wrap="square" rtlCol="0">
            <a:spAutoFit/>
          </a:bodyPr>
          <a:lstStyle/>
          <a:p>
            <a:r>
              <a:rPr lang="en-GB" dirty="0"/>
              <a:t>Clipping results</a:t>
            </a:r>
          </a:p>
        </p:txBody>
      </p:sp>
    </p:spTree>
    <p:extLst>
      <p:ext uri="{BB962C8B-B14F-4D97-AF65-F5344CB8AC3E}">
        <p14:creationId xmlns:p14="http://schemas.microsoft.com/office/powerpoint/2010/main" val="331490269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CDD15B-E099-398E-4374-F7781D5E9B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B9C717-080D-D2DC-FE8F-50ABBF910F9A}"/>
              </a:ext>
            </a:extLst>
          </p:cNvPr>
          <p:cNvSpPr>
            <a:spLocks noGrp="1"/>
          </p:cNvSpPr>
          <p:nvPr>
            <p:ph type="title"/>
          </p:nvPr>
        </p:nvSpPr>
        <p:spPr>
          <a:xfrm>
            <a:off x="399288" y="565899"/>
            <a:ext cx="10515600" cy="1325563"/>
          </a:xfrm>
        </p:spPr>
        <p:txBody>
          <a:bodyPr/>
          <a:lstStyle/>
          <a:p>
            <a:r>
              <a:rPr lang="en-GB" dirty="0"/>
              <a:t>Results</a:t>
            </a:r>
          </a:p>
        </p:txBody>
      </p:sp>
      <p:sp>
        <p:nvSpPr>
          <p:cNvPr id="11" name="TextBox 10">
            <a:extLst>
              <a:ext uri="{FF2B5EF4-FFF2-40B4-BE49-F238E27FC236}">
                <a16:creationId xmlns:a16="http://schemas.microsoft.com/office/drawing/2014/main" id="{FA48A569-B7A5-B9E0-B2EC-A641E4192279}"/>
              </a:ext>
            </a:extLst>
          </p:cNvPr>
          <p:cNvSpPr txBox="1"/>
          <p:nvPr/>
        </p:nvSpPr>
        <p:spPr>
          <a:xfrm>
            <a:off x="3780339" y="1228680"/>
            <a:ext cx="4732386" cy="369332"/>
          </a:xfrm>
          <a:prstGeom prst="rect">
            <a:avLst/>
          </a:prstGeom>
          <a:noFill/>
        </p:spPr>
        <p:txBody>
          <a:bodyPr wrap="none" rtlCol="0">
            <a:spAutoFit/>
          </a:bodyPr>
          <a:lstStyle/>
          <a:p>
            <a:r>
              <a:rPr lang="en-GB" dirty="0"/>
              <a:t>Clipping multiple linear regression test results</a:t>
            </a:r>
          </a:p>
        </p:txBody>
      </p:sp>
      <p:pic>
        <p:nvPicPr>
          <p:cNvPr id="4" name="Picture 3">
            <a:extLst>
              <a:ext uri="{FF2B5EF4-FFF2-40B4-BE49-F238E27FC236}">
                <a16:creationId xmlns:a16="http://schemas.microsoft.com/office/drawing/2014/main" id="{D4EF1FD2-8D55-5DD0-5FF1-632D27D5793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89398" y="1598012"/>
            <a:ext cx="9525490" cy="5153918"/>
          </a:xfrm>
          <a:prstGeom prst="rect">
            <a:avLst/>
          </a:prstGeom>
        </p:spPr>
      </p:pic>
    </p:spTree>
    <p:extLst>
      <p:ext uri="{BB962C8B-B14F-4D97-AF65-F5344CB8AC3E}">
        <p14:creationId xmlns:p14="http://schemas.microsoft.com/office/powerpoint/2010/main" val="348139661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5BEC63-E221-2179-AB8F-9202F98227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BD8AAE6-7678-FC25-B859-7DEE0A148F9A}"/>
              </a:ext>
            </a:extLst>
          </p:cNvPr>
          <p:cNvSpPr>
            <a:spLocks noGrp="1"/>
          </p:cNvSpPr>
          <p:nvPr>
            <p:ph type="title"/>
          </p:nvPr>
        </p:nvSpPr>
        <p:spPr>
          <a:xfrm>
            <a:off x="838200" y="500062"/>
            <a:ext cx="10515600" cy="1325563"/>
          </a:xfrm>
        </p:spPr>
        <p:txBody>
          <a:bodyPr/>
          <a:lstStyle/>
          <a:p>
            <a:r>
              <a:rPr lang="en-GB" dirty="0"/>
              <a:t>Results</a:t>
            </a:r>
          </a:p>
        </p:txBody>
      </p:sp>
      <p:sp>
        <p:nvSpPr>
          <p:cNvPr id="3" name="TextBox 2">
            <a:extLst>
              <a:ext uri="{FF2B5EF4-FFF2-40B4-BE49-F238E27FC236}">
                <a16:creationId xmlns:a16="http://schemas.microsoft.com/office/drawing/2014/main" id="{1658B35D-1DB4-FA0B-8D7B-46B0633216A6}"/>
              </a:ext>
            </a:extLst>
          </p:cNvPr>
          <p:cNvSpPr txBox="1"/>
          <p:nvPr/>
        </p:nvSpPr>
        <p:spPr>
          <a:xfrm>
            <a:off x="1141465" y="1755158"/>
            <a:ext cx="5793246" cy="2308324"/>
          </a:xfrm>
          <a:prstGeom prst="rect">
            <a:avLst/>
          </a:prstGeom>
          <a:noFill/>
        </p:spPr>
        <p:txBody>
          <a:bodyPr wrap="square" rtlCol="0">
            <a:spAutoFit/>
          </a:bodyPr>
          <a:lstStyle/>
          <a:p>
            <a:r>
              <a:rPr lang="en-GB" dirty="0"/>
              <a:t>The results indicate that hypothesis two is true. This is because there is a statistically significant difference in both the initial performance differences, and in how they scale. Initially, OpenGL outperforms Vulkan, however at scale, Vulkan outperforms OpenGL. The GPU also makes a statistically significant difference as Vulkan on the 4080 laptop GPU outperforms OpenGL much faster than on the 3070 GPU.</a:t>
            </a:r>
          </a:p>
        </p:txBody>
      </p:sp>
    </p:spTree>
    <p:extLst>
      <p:ext uri="{BB962C8B-B14F-4D97-AF65-F5344CB8AC3E}">
        <p14:creationId xmlns:p14="http://schemas.microsoft.com/office/powerpoint/2010/main" val="291869519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EE655D-CFC0-8848-212E-3809598EF3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9DD014-6E06-2F36-ACEC-371904E850E5}"/>
              </a:ext>
            </a:extLst>
          </p:cNvPr>
          <p:cNvSpPr>
            <a:spLocks noGrp="1"/>
          </p:cNvSpPr>
          <p:nvPr>
            <p:ph type="title"/>
          </p:nvPr>
        </p:nvSpPr>
        <p:spPr>
          <a:xfrm>
            <a:off x="838200" y="500062"/>
            <a:ext cx="10515600" cy="1325563"/>
          </a:xfrm>
        </p:spPr>
        <p:txBody>
          <a:bodyPr/>
          <a:lstStyle/>
          <a:p>
            <a:r>
              <a:rPr lang="en-GB" dirty="0"/>
              <a:t>Implications</a:t>
            </a:r>
          </a:p>
        </p:txBody>
      </p:sp>
      <p:sp>
        <p:nvSpPr>
          <p:cNvPr id="3" name="TextBox 2">
            <a:extLst>
              <a:ext uri="{FF2B5EF4-FFF2-40B4-BE49-F238E27FC236}">
                <a16:creationId xmlns:a16="http://schemas.microsoft.com/office/drawing/2014/main" id="{BC9348FE-A62E-EC3B-3085-76AEF05A2897}"/>
              </a:ext>
            </a:extLst>
          </p:cNvPr>
          <p:cNvSpPr txBox="1"/>
          <p:nvPr/>
        </p:nvSpPr>
        <p:spPr>
          <a:xfrm>
            <a:off x="644375" y="1589460"/>
            <a:ext cx="11206003" cy="3139321"/>
          </a:xfrm>
          <a:prstGeom prst="rect">
            <a:avLst/>
          </a:prstGeom>
          <a:noFill/>
        </p:spPr>
        <p:txBody>
          <a:bodyPr wrap="square" rtlCol="0">
            <a:spAutoFit/>
          </a:bodyPr>
          <a:lstStyle/>
          <a:p>
            <a:r>
              <a:rPr lang="en-GB" dirty="0"/>
              <a:t>For generation, the results have shown that Vulkan is not always faster than OpenGL.</a:t>
            </a:r>
          </a:p>
          <a:p>
            <a:endParaRPr lang="en-GB" dirty="0"/>
          </a:p>
          <a:p>
            <a:r>
              <a:rPr lang="en-GB" dirty="0"/>
              <a:t> At a lower point set, OpenGL consistently outperformed Vulkan. Whilst the 4080 GPU did show a trend of performing better than OpenGL at a lower point set then the 3070 GPU, this was still around 60 points suggesting that for cell generation, if you are using a relativity low point set of less than 60, OpenGL is the better choice for your application. </a:t>
            </a:r>
          </a:p>
          <a:p>
            <a:endParaRPr lang="en-GB" dirty="0"/>
          </a:p>
          <a:p>
            <a:r>
              <a:rPr lang="en-GB" dirty="0"/>
              <a:t>This could be due to a poor implementation of Vulkan, but research suggests that Vulkan was designed to take advantage of the parallelism of modern GPUs, so Vulkan performing better when parallelism matters more is logical. If you plan for a higher point set, and want scalability in your application, Vulkan is the recommended choice.</a:t>
            </a:r>
          </a:p>
        </p:txBody>
      </p:sp>
    </p:spTree>
    <p:extLst>
      <p:ext uri="{BB962C8B-B14F-4D97-AF65-F5344CB8AC3E}">
        <p14:creationId xmlns:p14="http://schemas.microsoft.com/office/powerpoint/2010/main" val="29185233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03F196-2B05-400B-AB9E-011563ABC35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ECDA3A9-0BD6-9C01-F9E8-ED470B7D4BD6}"/>
              </a:ext>
            </a:extLst>
          </p:cNvPr>
          <p:cNvSpPr>
            <a:spLocks noGrp="1"/>
          </p:cNvSpPr>
          <p:nvPr>
            <p:ph type="title"/>
          </p:nvPr>
        </p:nvSpPr>
        <p:spPr>
          <a:xfrm>
            <a:off x="838200" y="500062"/>
            <a:ext cx="10515600" cy="1325563"/>
          </a:xfrm>
        </p:spPr>
        <p:txBody>
          <a:bodyPr/>
          <a:lstStyle/>
          <a:p>
            <a:r>
              <a:rPr lang="en-GB" dirty="0"/>
              <a:t>Implications</a:t>
            </a:r>
          </a:p>
        </p:txBody>
      </p:sp>
      <p:sp>
        <p:nvSpPr>
          <p:cNvPr id="3" name="TextBox 2">
            <a:extLst>
              <a:ext uri="{FF2B5EF4-FFF2-40B4-BE49-F238E27FC236}">
                <a16:creationId xmlns:a16="http://schemas.microsoft.com/office/drawing/2014/main" id="{CD5824EF-5BEB-BFCF-A6A4-67161DF717DA}"/>
              </a:ext>
            </a:extLst>
          </p:cNvPr>
          <p:cNvSpPr txBox="1"/>
          <p:nvPr/>
        </p:nvSpPr>
        <p:spPr>
          <a:xfrm>
            <a:off x="644375" y="1589460"/>
            <a:ext cx="11206003" cy="2585323"/>
          </a:xfrm>
          <a:prstGeom prst="rect">
            <a:avLst/>
          </a:prstGeom>
          <a:noFill/>
        </p:spPr>
        <p:txBody>
          <a:bodyPr wrap="square" rtlCol="0">
            <a:spAutoFit/>
          </a:bodyPr>
          <a:lstStyle/>
          <a:p>
            <a:r>
              <a:rPr lang="en-GB" dirty="0"/>
              <a:t>Hypothesis two was proven true, as there was a significant statistical performance difference between OpenGL and Vulkan.</a:t>
            </a:r>
          </a:p>
          <a:p>
            <a:endParaRPr lang="en-GB" dirty="0"/>
          </a:p>
          <a:p>
            <a:r>
              <a:rPr lang="en-GB" dirty="0"/>
              <a:t> Vulkan on the 4080 GPU was very close in performance to OpenGL even in the beginning and performed better after around 5 points. The 3070 GPU took longer, consistently outperforming OpenGL past around 65 points. </a:t>
            </a:r>
          </a:p>
          <a:p>
            <a:endParaRPr lang="en-GB" dirty="0"/>
          </a:p>
          <a:p>
            <a:r>
              <a:rPr lang="en-GB" dirty="0"/>
              <a:t>The implications of this are that the 4080, and possibly other more modern hardware, is more performant with Vulkan than older hardware such as the 3070. Because of this, Vulkan is the preferred choice for clipping if you are targeting more modern hardware or are building for scalability.</a:t>
            </a:r>
          </a:p>
        </p:txBody>
      </p:sp>
    </p:spTree>
    <p:extLst>
      <p:ext uri="{BB962C8B-B14F-4D97-AF65-F5344CB8AC3E}">
        <p14:creationId xmlns:p14="http://schemas.microsoft.com/office/powerpoint/2010/main" val="119612015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787E1B-6C06-0953-D3BA-FA5E7617B7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B8618D-7F8C-11B2-1926-83CD6463B03D}"/>
              </a:ext>
            </a:extLst>
          </p:cNvPr>
          <p:cNvSpPr>
            <a:spLocks noGrp="1"/>
          </p:cNvSpPr>
          <p:nvPr>
            <p:ph type="title"/>
          </p:nvPr>
        </p:nvSpPr>
        <p:spPr>
          <a:xfrm>
            <a:off x="838200" y="500062"/>
            <a:ext cx="10515600" cy="1325563"/>
          </a:xfrm>
        </p:spPr>
        <p:txBody>
          <a:bodyPr/>
          <a:lstStyle/>
          <a:p>
            <a:r>
              <a:rPr lang="en-GB" dirty="0"/>
              <a:t>Broader Impacts</a:t>
            </a:r>
          </a:p>
        </p:txBody>
      </p:sp>
      <p:sp>
        <p:nvSpPr>
          <p:cNvPr id="3" name="TextBox 2">
            <a:extLst>
              <a:ext uri="{FF2B5EF4-FFF2-40B4-BE49-F238E27FC236}">
                <a16:creationId xmlns:a16="http://schemas.microsoft.com/office/drawing/2014/main" id="{0E1FF4B5-69C4-364D-E270-4E2A1FD62FAB}"/>
              </a:ext>
            </a:extLst>
          </p:cNvPr>
          <p:cNvSpPr txBox="1"/>
          <p:nvPr/>
        </p:nvSpPr>
        <p:spPr>
          <a:xfrm>
            <a:off x="644375" y="1589460"/>
            <a:ext cx="11206003" cy="3416320"/>
          </a:xfrm>
          <a:prstGeom prst="rect">
            <a:avLst/>
          </a:prstGeom>
          <a:noFill/>
        </p:spPr>
        <p:txBody>
          <a:bodyPr wrap="square" rtlCol="0">
            <a:spAutoFit/>
          </a:bodyPr>
          <a:lstStyle/>
          <a:p>
            <a:r>
              <a:rPr lang="en-GB" dirty="0"/>
              <a:t>From a sustainability perspective, this may help developers make more informed decisions about what API best suites their application that uses Voronoi fracturing as this may lead to reduced execution times, which could reduce energy consumption.</a:t>
            </a:r>
          </a:p>
          <a:p>
            <a:endParaRPr lang="en-GB" dirty="0"/>
          </a:p>
          <a:p>
            <a:r>
              <a:rPr lang="en-GB" dirty="0"/>
              <a:t> However, due to DVFS, lower execution time may result in increased power usage and as such, developers must still be wary of energy efficiency when selecting an API. A higher or lower power usage will also affect the temperature of the computer, which could lead to health and safety issues, such as reduced computer lifespan, if the temperature of the computer increases too much.</a:t>
            </a:r>
          </a:p>
          <a:p>
            <a:endParaRPr lang="en-GB" dirty="0"/>
          </a:p>
          <a:p>
            <a:r>
              <a:rPr lang="en-GB" dirty="0"/>
              <a:t>Environmentally, if power usage changes, this could have an impact as lower power usage would help to reduce global warming, whereas the contrary would increase it. As a result of this, the sustainability impact of this paper is limited. </a:t>
            </a:r>
          </a:p>
        </p:txBody>
      </p:sp>
    </p:spTree>
    <p:extLst>
      <p:ext uri="{BB962C8B-B14F-4D97-AF65-F5344CB8AC3E}">
        <p14:creationId xmlns:p14="http://schemas.microsoft.com/office/powerpoint/2010/main" val="168369195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5949C1-1DDA-7DB3-47D6-822110AC972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6E6FB9-6870-9A68-499F-45B6CB9D5D10}"/>
              </a:ext>
            </a:extLst>
          </p:cNvPr>
          <p:cNvSpPr>
            <a:spLocks noGrp="1"/>
          </p:cNvSpPr>
          <p:nvPr>
            <p:ph type="title"/>
          </p:nvPr>
        </p:nvSpPr>
        <p:spPr>
          <a:xfrm>
            <a:off x="838200" y="500062"/>
            <a:ext cx="10515600" cy="1325563"/>
          </a:xfrm>
        </p:spPr>
        <p:txBody>
          <a:bodyPr/>
          <a:lstStyle/>
          <a:p>
            <a:r>
              <a:rPr lang="en-GB" dirty="0"/>
              <a:t>Broader Impacts</a:t>
            </a:r>
          </a:p>
        </p:txBody>
      </p:sp>
      <p:sp>
        <p:nvSpPr>
          <p:cNvPr id="3" name="TextBox 2">
            <a:extLst>
              <a:ext uri="{FF2B5EF4-FFF2-40B4-BE49-F238E27FC236}">
                <a16:creationId xmlns:a16="http://schemas.microsoft.com/office/drawing/2014/main" id="{EDD9789A-B921-4A4E-1704-CDE3A0E7D8C2}"/>
              </a:ext>
            </a:extLst>
          </p:cNvPr>
          <p:cNvSpPr txBox="1"/>
          <p:nvPr/>
        </p:nvSpPr>
        <p:spPr>
          <a:xfrm>
            <a:off x="644375" y="1589460"/>
            <a:ext cx="11206003" cy="3139321"/>
          </a:xfrm>
          <a:prstGeom prst="rect">
            <a:avLst/>
          </a:prstGeom>
          <a:noFill/>
        </p:spPr>
        <p:txBody>
          <a:bodyPr wrap="square" rtlCol="0">
            <a:spAutoFit/>
          </a:bodyPr>
          <a:lstStyle/>
          <a:p>
            <a:r>
              <a:rPr lang="en-GB" dirty="0"/>
              <a:t>There is a social impact, as developers can make more informed decisions on the most performant API for their application based on scale and target hardware. This may increase accessibility as a wider range of hardware may be able to run their application, reducing hardware barriers for users and making a societal impact. </a:t>
            </a:r>
          </a:p>
          <a:p>
            <a:endParaRPr lang="en-GB" dirty="0"/>
          </a:p>
          <a:p>
            <a:r>
              <a:rPr lang="en-GB" dirty="0"/>
              <a:t>Professionally, this paper allows developers to make a more informed decision by demonstrating that API performance varies based on hardware and scale for Voronoi fracturing. This could help reduce development time and improve optimisation, which would have a commercial impact as it could save costs, and increase a products usability if it is better optimised as a result of this paper.</a:t>
            </a:r>
          </a:p>
          <a:p>
            <a:endParaRPr lang="en-GB" dirty="0"/>
          </a:p>
          <a:p>
            <a:r>
              <a:rPr lang="en-GB" dirty="0"/>
              <a:t> As a result, this paper contributes to more efficient and responsible engineering in any applications that make use of Voronoi fracturing.</a:t>
            </a:r>
          </a:p>
        </p:txBody>
      </p:sp>
    </p:spTree>
    <p:extLst>
      <p:ext uri="{BB962C8B-B14F-4D97-AF65-F5344CB8AC3E}">
        <p14:creationId xmlns:p14="http://schemas.microsoft.com/office/powerpoint/2010/main" val="204939621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5DC6A8-CD30-EB55-DF23-2920ADC50B8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3FDC6F5-753A-C769-4948-EB6A834322F6}"/>
              </a:ext>
            </a:extLst>
          </p:cNvPr>
          <p:cNvSpPr>
            <a:spLocks noGrp="1"/>
          </p:cNvSpPr>
          <p:nvPr>
            <p:ph type="title"/>
          </p:nvPr>
        </p:nvSpPr>
        <p:spPr>
          <a:xfrm>
            <a:off x="838200" y="500062"/>
            <a:ext cx="10515600" cy="1325563"/>
          </a:xfrm>
        </p:spPr>
        <p:txBody>
          <a:bodyPr/>
          <a:lstStyle/>
          <a:p>
            <a:r>
              <a:rPr lang="en-GB" dirty="0"/>
              <a:t>Broader Impacts</a:t>
            </a:r>
          </a:p>
        </p:txBody>
      </p:sp>
      <p:sp>
        <p:nvSpPr>
          <p:cNvPr id="3" name="TextBox 2">
            <a:extLst>
              <a:ext uri="{FF2B5EF4-FFF2-40B4-BE49-F238E27FC236}">
                <a16:creationId xmlns:a16="http://schemas.microsoft.com/office/drawing/2014/main" id="{1B9AF740-C21B-5765-3DB3-20CF2C67A249}"/>
              </a:ext>
            </a:extLst>
          </p:cNvPr>
          <p:cNvSpPr txBox="1"/>
          <p:nvPr/>
        </p:nvSpPr>
        <p:spPr>
          <a:xfrm>
            <a:off x="644375" y="1589460"/>
            <a:ext cx="11206003" cy="2862322"/>
          </a:xfrm>
          <a:prstGeom prst="rect">
            <a:avLst/>
          </a:prstGeom>
          <a:noFill/>
        </p:spPr>
        <p:txBody>
          <a:bodyPr wrap="square" rtlCol="0">
            <a:spAutoFit/>
          </a:bodyPr>
          <a:lstStyle/>
          <a:p>
            <a:r>
              <a:rPr lang="en-GB" dirty="0"/>
              <a:t>Ethically, this paper was low risk and did not violate GDPR. This paper followed the </a:t>
            </a:r>
            <a:r>
              <a:rPr lang="en-GB" dirty="0" err="1"/>
              <a:t>Bcs</a:t>
            </a:r>
            <a:r>
              <a:rPr lang="en-GB" dirty="0"/>
              <a:t> code of conduct by not making any claims beyond the scope of this experiment. This paper does not have a negative ethical impact but has a positive one as it helps developers to better understand which API is best suited to their application. </a:t>
            </a:r>
          </a:p>
          <a:p>
            <a:endParaRPr lang="en-GB" dirty="0"/>
          </a:p>
          <a:p>
            <a:r>
              <a:rPr lang="en-GB" dirty="0"/>
              <a:t>Legally, this paper has ensured that all external libraries and algorithms used are legal for this paper to use, as they are in the public domain, or require crediting to use.</a:t>
            </a:r>
          </a:p>
          <a:p>
            <a:endParaRPr lang="en-GB" dirty="0"/>
          </a:p>
          <a:p>
            <a:r>
              <a:rPr lang="en-GB" dirty="0"/>
              <a:t> The repository the artefact is under is the Apache 2.0 license, making it open source as requirements are met such as crediting the original. This has a legal impact, as anyone is free to use, modify, or distribute the repository, which may help others learn or create Voronoi fracturing based applications</a:t>
            </a:r>
          </a:p>
        </p:txBody>
      </p:sp>
    </p:spTree>
    <p:extLst>
      <p:ext uri="{BB962C8B-B14F-4D97-AF65-F5344CB8AC3E}">
        <p14:creationId xmlns:p14="http://schemas.microsoft.com/office/powerpoint/2010/main" val="124860729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4C63DB-9C38-1CEA-BCA3-6E589B098ED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C0C8AC8-00D9-5338-44EA-E2FF4DC23D21}"/>
              </a:ext>
            </a:extLst>
          </p:cNvPr>
          <p:cNvSpPr>
            <a:spLocks noGrp="1"/>
          </p:cNvSpPr>
          <p:nvPr>
            <p:ph type="title"/>
          </p:nvPr>
        </p:nvSpPr>
        <p:spPr>
          <a:xfrm>
            <a:off x="838200" y="500062"/>
            <a:ext cx="10515600" cy="1325563"/>
          </a:xfrm>
        </p:spPr>
        <p:txBody>
          <a:bodyPr/>
          <a:lstStyle/>
          <a:p>
            <a:r>
              <a:rPr lang="en-GB" dirty="0"/>
              <a:t>Recommendations</a:t>
            </a:r>
          </a:p>
        </p:txBody>
      </p:sp>
      <p:sp>
        <p:nvSpPr>
          <p:cNvPr id="3" name="TextBox 2">
            <a:extLst>
              <a:ext uri="{FF2B5EF4-FFF2-40B4-BE49-F238E27FC236}">
                <a16:creationId xmlns:a16="http://schemas.microsoft.com/office/drawing/2014/main" id="{8DA23D43-AD5D-7F97-21FC-EFF261A0EA51}"/>
              </a:ext>
            </a:extLst>
          </p:cNvPr>
          <p:cNvSpPr txBox="1"/>
          <p:nvPr/>
        </p:nvSpPr>
        <p:spPr>
          <a:xfrm>
            <a:off x="644375" y="1589460"/>
            <a:ext cx="11206003" cy="2862322"/>
          </a:xfrm>
          <a:prstGeom prst="rect">
            <a:avLst/>
          </a:prstGeom>
          <a:noFill/>
        </p:spPr>
        <p:txBody>
          <a:bodyPr wrap="square" rtlCol="0">
            <a:spAutoFit/>
          </a:bodyPr>
          <a:lstStyle/>
          <a:p>
            <a:r>
              <a:rPr lang="en-GB" dirty="0"/>
              <a:t>After analysing the results, this paper would recommend Vulkan when building for scalability, or more modern hardware, whereas this paper would recommend OpenGL if working with older hardware and with a lower point set, ideally below 60. </a:t>
            </a:r>
          </a:p>
          <a:p>
            <a:endParaRPr lang="en-GB" dirty="0"/>
          </a:p>
          <a:p>
            <a:r>
              <a:rPr lang="en-GB" dirty="0"/>
              <a:t>If performance is not a concern, OpenGL is the recommendation due to the ease of setup, as this paper found difficulty with the implementation of Vulkan, and found that the time to implement was much longer than OpenGL. </a:t>
            </a:r>
          </a:p>
          <a:p>
            <a:endParaRPr lang="en-GB" dirty="0"/>
          </a:p>
          <a:p>
            <a:r>
              <a:rPr lang="en-GB" dirty="0"/>
              <a:t>To conclude, Vulkan is best for scale and modern hardware, OpenGL for low parallelism, ease of use, and older hardware.</a:t>
            </a:r>
          </a:p>
        </p:txBody>
      </p:sp>
    </p:spTree>
    <p:extLst>
      <p:ext uri="{BB962C8B-B14F-4D97-AF65-F5344CB8AC3E}">
        <p14:creationId xmlns:p14="http://schemas.microsoft.com/office/powerpoint/2010/main" val="280693978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A4CB39-B8F8-3433-8231-E6985D243B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D1E416-918C-CE18-602A-6C4C7F656831}"/>
              </a:ext>
            </a:extLst>
          </p:cNvPr>
          <p:cNvSpPr>
            <a:spLocks noGrp="1"/>
          </p:cNvSpPr>
          <p:nvPr>
            <p:ph type="title"/>
          </p:nvPr>
        </p:nvSpPr>
        <p:spPr>
          <a:xfrm>
            <a:off x="838200" y="500062"/>
            <a:ext cx="10515600" cy="1325563"/>
          </a:xfrm>
        </p:spPr>
        <p:txBody>
          <a:bodyPr/>
          <a:lstStyle/>
          <a:p>
            <a:r>
              <a:rPr lang="en-GB" dirty="0"/>
              <a:t>Conclusion</a:t>
            </a:r>
          </a:p>
        </p:txBody>
      </p:sp>
      <p:sp>
        <p:nvSpPr>
          <p:cNvPr id="4" name="TextBox 3">
            <a:extLst>
              <a:ext uri="{FF2B5EF4-FFF2-40B4-BE49-F238E27FC236}">
                <a16:creationId xmlns:a16="http://schemas.microsoft.com/office/drawing/2014/main" id="{F8A379DC-5034-E076-B6A9-E0165699CEC1}"/>
              </a:ext>
            </a:extLst>
          </p:cNvPr>
          <p:cNvSpPr txBox="1"/>
          <p:nvPr/>
        </p:nvSpPr>
        <p:spPr>
          <a:xfrm>
            <a:off x="838200" y="1371492"/>
            <a:ext cx="10828071" cy="4524315"/>
          </a:xfrm>
          <a:prstGeom prst="rect">
            <a:avLst/>
          </a:prstGeom>
          <a:noFill/>
        </p:spPr>
        <p:txBody>
          <a:bodyPr wrap="square" rtlCol="0">
            <a:spAutoFit/>
          </a:bodyPr>
          <a:lstStyle/>
          <a:p>
            <a:r>
              <a:rPr lang="en-GB" dirty="0"/>
              <a:t>With destruction effects growing in usage, complexity and scale, there is a need to optimise applications to account for this. Whilst many methods have been tried to optimise the algorithms themselves, there has not been much research into optimising what graphics API best performs such destruction techniques. </a:t>
            </a:r>
          </a:p>
          <a:p>
            <a:endParaRPr lang="en-GB" dirty="0"/>
          </a:p>
          <a:p>
            <a:r>
              <a:rPr lang="en-GB" dirty="0"/>
              <a:t>This paper opted to focus on Voronoi fracturing as it is a widely used destruction technique in many applications. The artefact produced accurately answers this question by testing the execution time for a compute shader executed by both Vulkan and OpenGL to perform clipping and cell generation.</a:t>
            </a:r>
          </a:p>
          <a:p>
            <a:endParaRPr lang="en-GB" dirty="0"/>
          </a:p>
          <a:p>
            <a:r>
              <a:rPr lang="en-GB" dirty="0"/>
              <a:t> This test was repeated 145 times to ensure accuracy and performed on 2 computers to ensure results were not specific to one computer. However, the number of GPU's tested were not large enough to completely answer the question. This paper contributed to the field by demonstrating that API performance is not absolute but dependent on the scale and used GPU, challenging the common assumption that Vulkan universally outperforms OpenGL.</a:t>
            </a:r>
          </a:p>
          <a:p>
            <a:endParaRPr lang="en-GB" dirty="0"/>
          </a:p>
          <a:p>
            <a:r>
              <a:rPr lang="en-GB" dirty="0"/>
              <a:t> The limitations to this work prove there are improvements to be made to definitively answer the question of How does the execution time of OpenGL compare to Vulkan for a 3D Voronoi fracturing of a mesh?</a:t>
            </a:r>
          </a:p>
        </p:txBody>
      </p:sp>
    </p:spTree>
    <p:extLst>
      <p:ext uri="{BB962C8B-B14F-4D97-AF65-F5344CB8AC3E}">
        <p14:creationId xmlns:p14="http://schemas.microsoft.com/office/powerpoint/2010/main" val="275841349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AB438D-CBB6-EB76-8428-F619A9E87981}"/>
              </a:ext>
            </a:extLst>
          </p:cNvPr>
          <p:cNvSpPr>
            <a:spLocks noGrp="1"/>
          </p:cNvSpPr>
          <p:nvPr>
            <p:ph type="title"/>
          </p:nvPr>
        </p:nvSpPr>
        <p:spPr>
          <a:xfrm>
            <a:off x="1003896" y="745614"/>
            <a:ext cx="10515600" cy="4808292"/>
          </a:xfrm>
        </p:spPr>
        <p:txBody>
          <a:bodyPr/>
          <a:lstStyle/>
          <a:p>
            <a:pPr algn="ctr"/>
            <a:r>
              <a:rPr lang="en-GB" dirty="0"/>
              <a:t>Thank you for listening!</a:t>
            </a:r>
          </a:p>
        </p:txBody>
      </p:sp>
    </p:spTree>
    <p:extLst>
      <p:ext uri="{BB962C8B-B14F-4D97-AF65-F5344CB8AC3E}">
        <p14:creationId xmlns:p14="http://schemas.microsoft.com/office/powerpoint/2010/main" val="157565094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698</TotalTime>
  <Words>2272</Words>
  <Application>Microsoft Office PowerPoint</Application>
  <PresentationFormat>Widescreen</PresentationFormat>
  <Paragraphs>128</Paragraphs>
  <Slides>30</Slides>
  <Notes>14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30</vt:i4>
      </vt:variant>
    </vt:vector>
  </HeadingPairs>
  <TitlesOfParts>
    <vt:vector size="34" baseType="lpstr">
      <vt:lpstr>Aptos</vt:lpstr>
      <vt:lpstr>Aptos Display</vt:lpstr>
      <vt:lpstr>Arial</vt:lpstr>
      <vt:lpstr>Office Theme</vt:lpstr>
      <vt:lpstr>A Comparison of Voronoi Fracturing in Vulkan and OpenGL</vt:lpstr>
      <vt:lpstr>Context</vt:lpstr>
      <vt:lpstr>Context</vt:lpstr>
      <vt:lpstr>Justification</vt:lpstr>
      <vt:lpstr>Question and Hypothesis</vt:lpstr>
      <vt:lpstr>Lit results</vt:lpstr>
      <vt:lpstr>Method</vt:lpstr>
      <vt:lpstr>Method</vt:lpstr>
      <vt:lpstr>Method</vt:lpstr>
      <vt:lpstr>Implementation</vt:lpstr>
      <vt:lpstr>Quality Assurance</vt:lpstr>
      <vt:lpstr>Legal</vt:lpstr>
      <vt:lpstr>Social</vt:lpstr>
      <vt:lpstr>Ethical</vt:lpstr>
      <vt:lpstr>Professional</vt:lpstr>
      <vt:lpstr>Sustainability</vt:lpstr>
      <vt:lpstr>Results</vt:lpstr>
      <vt:lpstr>Results</vt:lpstr>
      <vt:lpstr>Results</vt:lpstr>
      <vt:lpstr>Results</vt:lpstr>
      <vt:lpstr>Results</vt:lpstr>
      <vt:lpstr>Results</vt:lpstr>
      <vt:lpstr>Implications</vt:lpstr>
      <vt:lpstr>Implications</vt:lpstr>
      <vt:lpstr>Broader Impacts</vt:lpstr>
      <vt:lpstr>Broader Impacts</vt:lpstr>
      <vt:lpstr>Broader Impacts</vt:lpstr>
      <vt:lpstr>Recommendations</vt:lpstr>
      <vt:lpstr>Conclusion</vt:lpstr>
      <vt:lpstr>Thank you for listening!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SAM LLOYD</dc:creator>
  <cp:lastModifiedBy>SAM LLOYD</cp:lastModifiedBy>
  <cp:revision>5</cp:revision>
  <dcterms:created xsi:type="dcterms:W3CDTF">2025-12-08T18:02:21Z</dcterms:created>
  <dcterms:modified xsi:type="dcterms:W3CDTF">2026-04-06T13:53:57Z</dcterms:modified>
</cp:coreProperties>
</file>